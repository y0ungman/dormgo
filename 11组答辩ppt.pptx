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633" r:id="rId2"/>
    <p:sldId id="566" r:id="rId3"/>
    <p:sldId id="634" r:id="rId4"/>
    <p:sldId id="635" r:id="rId5"/>
    <p:sldId id="637" r:id="rId6"/>
    <p:sldId id="636" r:id="rId7"/>
    <p:sldId id="638" r:id="rId8"/>
    <p:sldId id="639" r:id="rId9"/>
    <p:sldId id="641" r:id="rId10"/>
    <p:sldId id="640" r:id="rId11"/>
    <p:sldId id="643" r:id="rId12"/>
    <p:sldId id="64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F9BF7-3624-4F2D-8CF6-2A3B7D1C8675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E221F-67E3-48F5-B496-AE1351613E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9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7380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728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7882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3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153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157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262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0674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71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842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6F1E4-0A62-4D65-B21A-E2330265C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C4AE8-C386-4F89-A3E5-CC628A20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36D8-BF98-470A-B1EB-8DFF1330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03424-1140-4E58-B6B4-79D86F1D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57D08-910B-486E-B538-DCAC1FBB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36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7145-BF0D-49A1-B575-C99021E9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ADE60-D44E-4EF3-B8E2-DCDC15A5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740C7-5B0F-4031-803A-7AA9249B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86315-2EBE-4700-B751-47393B02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5713E-A0DC-4D98-B949-F7141C46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3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D79-C3EC-40E9-8DBB-74D205C0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A832F-6543-4A60-9FEE-E4C72F891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478B-0C2E-4F89-9542-587C9484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BE3AC-47EE-435F-BA24-67BD2FDA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F2F1F-2BAB-438C-88A7-149E039B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8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1847-513F-427C-911C-0A18E3AD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8FF78-6F21-45F5-B5F5-F4862F9FC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725CC-4F4C-4858-B99E-0C329E1B7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B772C-2986-4E09-BAAD-510AC59F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70B58-8AC3-421E-BCA3-A0BF84B5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6296E-33D8-48D9-8A7A-2AD3A134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65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E71E8-A50A-4A78-9AF2-0786824B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4EA979-D3FA-42AC-B35F-8EA5701A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FE3C0-4254-4076-84ED-86B4C4317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D5ADC9-8E35-4083-B7AF-136189616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C7ACF4-C0CA-4838-8305-D6E922FC4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22B3A3-35F4-416C-8CA1-0D876605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A28591-36D6-4BD1-8E2C-3211DF65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D2A54C-8263-425F-A395-E86ABF2A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40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DF195-A2DC-4E01-985E-9AB1E71D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A8447-3DB9-4CB3-894C-CC74C8EC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2D3A38-A37C-480E-8E44-32272733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1AF249-DAE0-4A12-9E9A-DA899C3C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8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02F9EA-893A-44E5-8672-76AE61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1845B9-BB72-47D4-8AE9-90F41ED0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5876E-8556-4F86-9E10-851B0A16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21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B8D63-99F3-4381-B7BF-E0A7CD3D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7D916-65A6-4508-AB4F-87851918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0EBF9-F7B8-40C4-858A-90D2B4FA9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668107-6FFA-4730-B315-A0500D2B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DD66F-A306-4B9E-9272-6814994B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45A2F-2C59-4AB1-A8BF-DD0CF78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26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62FDC-57A4-4236-AF60-279E7877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E4B8FD-D8AA-4FEA-863E-D394F25BE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AAB45-6CD3-45B1-819D-717DA92AC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26329-42BE-484B-8AFA-1D4766F4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16E6F-F436-470D-A263-A98570B3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8DAF0-3023-4A25-A180-2D069409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85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6B0BE-B026-47FF-9FBB-CC33B514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68CCB-DEB2-492C-9011-CC3DC8156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5F5DA-5CBF-4D9B-9F58-92A47AB4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701E3-E585-45F2-8E81-D7634B31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7927B-3E06-46BF-909F-19519DBE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6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E54476-35BF-434F-9BED-08198012D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CBA41B-75E2-4ADA-AEB1-448768D37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FCDA8-3CBF-4BBB-8596-0498EA0B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FE68E-CA1D-4260-9395-CF2C0DBC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376C-D6FC-44CD-9549-C13F466B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102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20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59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1416E-A631-412B-9ACD-8831FE91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9749E-FDA8-4307-8CFE-E22407D8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44C1F-1AD2-458E-BBDA-EDD17358C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FD6D8-AAFD-443C-A1AE-7105914F8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BF04-E0DC-4784-A43A-9795552DA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82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1789242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398782" y="5231827"/>
            <a:ext cx="314993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助教：潘李麒，黄嘉烨</a:t>
            </a:r>
          </a:p>
        </p:txBody>
      </p:sp>
      <p:sp>
        <p:nvSpPr>
          <p:cNvPr id="9" name="矩形 8"/>
          <p:cNvSpPr/>
          <p:nvPr/>
        </p:nvSpPr>
        <p:spPr>
          <a:xfrm>
            <a:off x="2137313" y="2459405"/>
            <a:ext cx="8032968" cy="1790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软件工程实训（中级）</a:t>
            </a: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b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寝友</a:t>
            </a: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endParaRPr lang="zh-CN" altLang="en-US" sz="48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98782" y="5682967"/>
            <a:ext cx="6296548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组长：张梓烨</a:t>
            </a:r>
          </a:p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组员：刘梓衡，张建珅，靳寒寒，郭帅，卢富催</a:t>
            </a:r>
            <a:endParaRPr lang="zh-CN" altLang="en-US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A903A-A295-434B-B910-77D8CC158E48}"/>
              </a:ext>
            </a:extLst>
          </p:cNvPr>
          <p:cNvSpPr txBox="1"/>
          <p:nvPr/>
        </p:nvSpPr>
        <p:spPr>
          <a:xfrm>
            <a:off x="3399928" y="4780687"/>
            <a:ext cx="18669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组号：</a:t>
            </a:r>
            <a:r>
              <a:rPr lang="en-US" altLang="zh-CN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endParaRPr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66"/>
    </mc:Choice>
    <mc:Fallback xmlns="">
      <p:transition advTm="20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分工介绍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25072" y="239236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张建珅</a:t>
            </a:r>
            <a:r>
              <a:rPr lang="zh-CN" altLang="en-US" sz="1800" dirty="0">
                <a:sym typeface="+mn-ea"/>
              </a:rPr>
              <a:t>完成了顶部导航、搜索分类筛选、公共组件等首页开发，帖子详细页、帖子发布页等页面开发，以及</a:t>
            </a:r>
            <a:r>
              <a:rPr lang="en-US" altLang="zh-CN" sz="1800" dirty="0">
                <a:sym typeface="+mn-ea"/>
              </a:rPr>
              <a:t>UI</a:t>
            </a:r>
            <a:r>
              <a:rPr lang="zh-CN" altLang="en-US" sz="1800" dirty="0">
                <a:sym typeface="+mn-ea"/>
              </a:rPr>
              <a:t>设计、</a:t>
            </a:r>
            <a:r>
              <a:rPr lang="en-US" altLang="zh-CN" sz="1800" dirty="0">
                <a:sym typeface="+mn-ea"/>
              </a:rPr>
              <a:t>UI</a:t>
            </a:r>
            <a:r>
              <a:rPr lang="zh-CN" altLang="en-US" sz="1800" dirty="0">
                <a:sym typeface="+mn-ea"/>
              </a:rPr>
              <a:t>适配等样式调整；</a:t>
            </a:r>
            <a:r>
              <a:rPr lang="zh-CN" altLang="en-US" sz="1800" b="1" dirty="0">
                <a:sym typeface="+mn-ea"/>
              </a:rPr>
              <a:t>刘梓衡</a:t>
            </a:r>
            <a:r>
              <a:rPr lang="zh-CN" altLang="en-US" sz="1800" dirty="0">
                <a:sym typeface="+mn-ea"/>
              </a:rPr>
              <a:t>完成了后台管理系统的页面开发，包括数据统计、用户管理、楼栋管理、通知管理等，以及登录界面的设计和前端</a:t>
            </a:r>
            <a:r>
              <a:rPr lang="en-US" altLang="zh-CN" sz="1800" dirty="0" err="1">
                <a:sym typeface="+mn-ea"/>
              </a:rPr>
              <a:t>Vite</a:t>
            </a:r>
            <a:r>
              <a:rPr lang="zh-CN" altLang="en-US" sz="1800" dirty="0">
                <a:sym typeface="+mn-ea"/>
              </a:rPr>
              <a:t>配置、路由与状态管理等项目搭建内容；</a:t>
            </a:r>
            <a:r>
              <a:rPr lang="zh-CN" altLang="en-US" sz="1800" b="1" dirty="0">
                <a:sym typeface="+mn-ea"/>
              </a:rPr>
              <a:t>郭帅</a:t>
            </a:r>
            <a:r>
              <a:rPr lang="zh-CN" altLang="en-US" sz="1800" dirty="0">
                <a:sym typeface="+mn-ea"/>
              </a:rPr>
              <a:t>完成了个人中心页面以及其中的详细资料、社区规范等页面；</a:t>
            </a: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33184" y="199293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前端开发</a:t>
            </a:r>
          </a:p>
        </p:txBody>
      </p:sp>
      <p:sp>
        <p:nvSpPr>
          <p:cNvPr id="9" name="内容占位符 5"/>
          <p:cNvSpPr>
            <a:spLocks noGrp="1"/>
          </p:cNvSpPr>
          <p:nvPr/>
        </p:nvSpPr>
        <p:spPr>
          <a:xfrm>
            <a:off x="241296" y="4087170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后端开发</a:t>
            </a:r>
          </a:p>
        </p:txBody>
      </p:sp>
      <p:sp>
        <p:nvSpPr>
          <p:cNvPr id="10" name="内容占位符 10"/>
          <p:cNvSpPr>
            <a:spLocks noGrp="1"/>
          </p:cNvSpPr>
          <p:nvPr/>
        </p:nvSpPr>
        <p:spPr>
          <a:xfrm>
            <a:off x="245352" y="4487280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张梓烨</a:t>
            </a:r>
            <a:r>
              <a:rPr lang="zh-CN" altLang="en-US" sz="1800" dirty="0">
                <a:sym typeface="+mn-ea"/>
              </a:rPr>
              <a:t>完成了</a:t>
            </a:r>
            <a:r>
              <a:rPr lang="en-US" altLang="zh-CN" sz="1800" dirty="0">
                <a:sym typeface="+mn-ea"/>
              </a:rPr>
              <a:t>Gin</a:t>
            </a:r>
            <a:r>
              <a:rPr lang="zh-CN" altLang="en-US" sz="1800" dirty="0">
                <a:sym typeface="+mn-ea"/>
              </a:rPr>
              <a:t>路由分组等项目搭建内容，发帖、帖子列表、帖子详细、</a:t>
            </a:r>
            <a:r>
              <a:rPr lang="en-US" altLang="zh-CN" sz="1800" dirty="0">
                <a:sym typeface="+mn-ea"/>
              </a:rPr>
              <a:t>Redis</a:t>
            </a:r>
            <a:r>
              <a:rPr lang="zh-CN" altLang="en-US" sz="1800" dirty="0">
                <a:sym typeface="+mn-ea"/>
              </a:rPr>
              <a:t>缓存等帖子模块，以及点赞、评论、通知等交互逻辑以及数据库设计等内容；</a:t>
            </a:r>
            <a:r>
              <a:rPr lang="zh-CN" altLang="en-US" sz="1800" b="1" dirty="0">
                <a:sym typeface="+mn-ea"/>
              </a:rPr>
              <a:t>靳寒寒</a:t>
            </a:r>
            <a:r>
              <a:rPr lang="zh-CN" altLang="en-US" sz="1800" dirty="0">
                <a:sym typeface="+mn-ea"/>
              </a:rPr>
              <a:t>完成了</a:t>
            </a:r>
            <a:r>
              <a:rPr lang="en-US" altLang="zh-CN" sz="1800" dirty="0">
                <a:sym typeface="+mn-ea"/>
              </a:rPr>
              <a:t>JWT</a:t>
            </a:r>
            <a:r>
              <a:rPr lang="zh-CN" altLang="en-US" sz="1800" dirty="0">
                <a:sym typeface="+mn-ea"/>
              </a:rPr>
              <a:t>等中间件配置、注册</a:t>
            </a:r>
            <a:r>
              <a:rPr lang="en-US" altLang="zh-CN" sz="1800" dirty="0">
                <a:sym typeface="+mn-ea"/>
              </a:rPr>
              <a:t>/</a:t>
            </a:r>
            <a:r>
              <a:rPr lang="zh-CN" altLang="en-US" sz="1800" dirty="0">
                <a:sym typeface="+mn-ea"/>
              </a:rPr>
              <a:t>登录、个人信息的修改等用户模块内容；</a:t>
            </a:r>
            <a:r>
              <a:rPr lang="zh-CN" altLang="en-US" sz="1800" b="1" dirty="0">
                <a:sym typeface="+mn-ea"/>
              </a:rPr>
              <a:t>卢富催</a:t>
            </a:r>
            <a:r>
              <a:rPr lang="zh-CN" altLang="en-US" sz="1800" dirty="0">
                <a:sym typeface="+mn-ea"/>
              </a:rPr>
              <a:t>完成了后台管理系统的帖子状态管理、用户状态管理等；</a:t>
            </a:r>
            <a:endParaRPr lang="zh-CN" altLang="en-US" sz="1800" dirty="0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7DD7F34E-89AD-449E-B305-9B78B3228C19}"/>
              </a:ext>
            </a:extLst>
          </p:cNvPr>
          <p:cNvSpPr>
            <a:spLocks noGrp="1"/>
          </p:cNvSpPr>
          <p:nvPr/>
        </p:nvSpPr>
        <p:spPr>
          <a:xfrm>
            <a:off x="237240" y="1057455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总体介绍</a:t>
            </a:r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8EAB0F9C-AB95-4E67-BDBE-45423503031D}"/>
              </a:ext>
            </a:extLst>
          </p:cNvPr>
          <p:cNvSpPr>
            <a:spLocks noGrp="1"/>
          </p:cNvSpPr>
          <p:nvPr/>
        </p:nvSpPr>
        <p:spPr>
          <a:xfrm>
            <a:off x="241296" y="1444426"/>
            <a:ext cx="11195685" cy="62839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ym typeface="+mn-ea"/>
              </a:rPr>
              <a:t>项目分为</a:t>
            </a:r>
            <a:r>
              <a:rPr lang="zh-CN" altLang="en-US" sz="1800" b="1" dirty="0">
                <a:sym typeface="+mn-ea"/>
              </a:rPr>
              <a:t>前端、后端</a:t>
            </a:r>
            <a:r>
              <a:rPr lang="zh-CN" altLang="en-US" sz="1800" dirty="0">
                <a:sym typeface="+mn-ea"/>
              </a:rPr>
              <a:t>两大模块；前端人员有</a:t>
            </a:r>
            <a:r>
              <a:rPr lang="zh-CN" altLang="en-US" sz="1800" b="1" dirty="0">
                <a:sym typeface="+mn-ea"/>
              </a:rPr>
              <a:t>刘梓衡、张建珅、郭帅</a:t>
            </a:r>
            <a:r>
              <a:rPr lang="zh-CN" altLang="en-US" sz="1800" dirty="0">
                <a:sym typeface="+mn-ea"/>
              </a:rPr>
              <a:t>，后端人员有</a:t>
            </a:r>
            <a:r>
              <a:rPr lang="zh-CN" altLang="en-US" sz="1800" b="1" dirty="0">
                <a:sym typeface="+mn-ea"/>
              </a:rPr>
              <a:t>张梓烨、靳寒寒、卢富催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近在咫尺的“陌生人”：</a:t>
            </a:r>
            <a:r>
              <a:rPr lang="zh-CN" altLang="en-US" sz="1800" dirty="0"/>
              <a:t>大学生虽然同住一栋楼，但往往只认识同寝室的人，宿舍楼内面临严重的“社交原子化”现象；闲置的劳动力（想顺路赚零花钱的人）与即时的需求（急需带饭</a:t>
            </a:r>
            <a:r>
              <a:rPr lang="en-US" altLang="zh-CN" sz="1800" dirty="0"/>
              <a:t>/</a:t>
            </a:r>
            <a:r>
              <a:rPr lang="zh-CN" altLang="en-US" sz="1800" dirty="0"/>
              <a:t>取快递的人）因信息不对称而无法匹配。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项目背景介绍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校园生活的高频需求未被满足：</a:t>
            </a:r>
            <a:r>
              <a:rPr lang="zh-CN" altLang="en-US" sz="1800" dirty="0"/>
              <a:t>生病需要带药、雨天需要带饭、急需打印资料</a:t>
            </a:r>
            <a:r>
              <a:rPr lang="en-US" altLang="zh-CN" sz="1800" dirty="0"/>
              <a:t>——</a:t>
            </a:r>
            <a:r>
              <a:rPr lang="zh-CN" altLang="en-US" sz="1800" dirty="0"/>
              <a:t>商业外卖无法进入宿舍楼，同学间的“微互助”缺失高效平台；“三缺一”找不到麻将搭子、想打球找不到人、想自习找不到伙伴</a:t>
            </a:r>
            <a:r>
              <a:rPr lang="en-US" altLang="zh-CN" sz="1800" dirty="0"/>
              <a:t>——</a:t>
            </a:r>
            <a:r>
              <a:rPr lang="zh-CN" altLang="en-US" sz="1800" dirty="0"/>
              <a:t>跨校区找人成本高，楼内社交缺乏渠道。</a:t>
            </a:r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基于“物理共在”的即时信任：</a:t>
            </a:r>
            <a:r>
              <a:rPr lang="zh-CN" altLang="en-US" sz="1800" dirty="0"/>
              <a:t>二手交易和找人办事，最大的门槛是信任；此时此刻、此地此楼；</a:t>
            </a:r>
            <a:endParaRPr lang="en-US" altLang="zh-CN" sz="1800" dirty="0"/>
          </a:p>
          <a:p>
            <a:r>
              <a:rPr lang="zh-CN" altLang="en-US" sz="1800" b="1" dirty="0"/>
              <a:t>做美团进不去的最后</a:t>
            </a:r>
            <a:r>
              <a:rPr lang="en-US" altLang="zh-CN" sz="1800" b="1" dirty="0"/>
              <a:t>100</a:t>
            </a:r>
            <a:r>
              <a:rPr lang="zh-CN" altLang="en-US" sz="1800" b="1" dirty="0"/>
              <a:t>米，做微信朋友圈外的楼内生活圈。</a:t>
            </a:r>
            <a:endParaRPr lang="zh-CN" altLang="en-US" sz="1800" b="1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用户模块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E438585-E800-482B-B573-5C98197C4F48}"/>
              </a:ext>
            </a:extLst>
          </p:cNvPr>
          <p:cNvSpPr>
            <a:spLocks noGrp="1"/>
          </p:cNvSpPr>
          <p:nvPr/>
        </p:nvSpPr>
        <p:spPr>
          <a:xfrm>
            <a:off x="8158283" y="3715023"/>
            <a:ext cx="3282756" cy="1633607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个人中心：</a:t>
            </a:r>
            <a:r>
              <a:rPr lang="zh-CN" altLang="en-US" sz="1800" dirty="0"/>
              <a:t>统一管理“我的发布”、“我的收藏”和“我的通知”</a:t>
            </a:r>
            <a:endParaRPr lang="en-US" altLang="zh-CN" sz="1800" b="1" dirty="0"/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1AC3D586-CA35-4E2C-AD6E-174C2CD4C0E3}"/>
              </a:ext>
            </a:extLst>
          </p:cNvPr>
          <p:cNvSpPr>
            <a:spLocks noGrp="1"/>
          </p:cNvSpPr>
          <p:nvPr/>
        </p:nvSpPr>
        <p:spPr>
          <a:xfrm>
            <a:off x="241298" y="1518817"/>
            <a:ext cx="3630831" cy="2196206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账号与安全：</a:t>
            </a:r>
            <a:r>
              <a:rPr lang="zh-CN" altLang="en-US" sz="1800" dirty="0"/>
              <a:t>学号注册；自助修改与重置密码；自定义头像、昵称、个签及所属宿舍楼信息；</a:t>
            </a:r>
            <a:endParaRPr lang="en-US" altLang="zh-CN" sz="1800" b="1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75F64ADF-5EC1-4B18-9E0F-D9B93E5A78F9}"/>
              </a:ext>
            </a:extLst>
          </p:cNvPr>
          <p:cNvSpPr>
            <a:spLocks noGrp="1"/>
          </p:cNvSpPr>
          <p:nvPr/>
        </p:nvSpPr>
        <p:spPr>
          <a:xfrm>
            <a:off x="4025752" y="1542332"/>
            <a:ext cx="3630832" cy="1323296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首页与发现：</a:t>
            </a:r>
            <a:r>
              <a:rPr lang="zh-CN" altLang="en-US" sz="1800" dirty="0"/>
              <a:t>支持按 </a:t>
            </a:r>
            <a:r>
              <a:rPr lang="zh-CN" altLang="en-US" sz="1800" b="1" dirty="0"/>
              <a:t>宿舍楼</a:t>
            </a:r>
            <a:r>
              <a:rPr lang="zh-CN" altLang="en-US" sz="1800" dirty="0"/>
              <a:t>和 </a:t>
            </a:r>
            <a:r>
              <a:rPr lang="zh-CN" altLang="en-US" sz="1800" b="1" dirty="0"/>
              <a:t>分类</a:t>
            </a:r>
            <a:r>
              <a:rPr lang="zh-CN" altLang="en-US" sz="1800" dirty="0"/>
              <a:t>双重筛选帖子；支持对帖子标题和内容的关键词搜索；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9BF8434B-46B0-4818-A9CD-02AEAB0244EF}"/>
              </a:ext>
            </a:extLst>
          </p:cNvPr>
          <p:cNvSpPr>
            <a:spLocks noGrp="1"/>
          </p:cNvSpPr>
          <p:nvPr/>
        </p:nvSpPr>
        <p:spPr>
          <a:xfrm>
            <a:off x="7810207" y="1509370"/>
            <a:ext cx="3630832" cy="1633607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消息与通知：</a:t>
            </a:r>
            <a:r>
              <a:rPr lang="zh-CN" altLang="en-US" sz="1800" dirty="0"/>
              <a:t>内置 </a:t>
            </a:r>
            <a:r>
              <a:rPr lang="en-US" altLang="zh-CN" sz="1800" dirty="0"/>
              <a:t>IM </a:t>
            </a:r>
            <a:r>
              <a:rPr lang="zh-CN" altLang="en-US" sz="1800" dirty="0"/>
              <a:t>聊天功能，一对一私信沟通；接收来自管理员的重要公告；实时接收报名、点赞等互动消息；</a:t>
            </a:r>
            <a:endParaRPr lang="en-US" altLang="zh-CN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EF5369-590B-410F-8A48-E5990398F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29" y="2865628"/>
            <a:ext cx="2987334" cy="37263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96D363-CF27-48EC-A239-C75FC8D29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46" y="3279664"/>
            <a:ext cx="3675355" cy="229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8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用户模块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E438585-E800-482B-B573-5C98197C4F48}"/>
              </a:ext>
            </a:extLst>
          </p:cNvPr>
          <p:cNvSpPr>
            <a:spLocks noGrp="1"/>
          </p:cNvSpPr>
          <p:nvPr/>
        </p:nvSpPr>
        <p:spPr>
          <a:xfrm>
            <a:off x="245355" y="1422381"/>
            <a:ext cx="7463740" cy="2391923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帖子发布与互动：</a:t>
            </a:r>
            <a:r>
              <a:rPr lang="zh-CN" altLang="en-US" sz="1800" dirty="0"/>
              <a:t>支持发布包含标题、正文、多张图片的帖子；内置 </a:t>
            </a:r>
            <a:r>
              <a:rPr lang="en-US" altLang="zh-CN" sz="1800" b="1" dirty="0"/>
              <a:t>AI </a:t>
            </a:r>
            <a:r>
              <a:rPr lang="zh-CN" altLang="en-US" sz="1800" b="1" dirty="0"/>
              <a:t>润色功能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r>
              <a:rPr lang="zh-CN" altLang="en-US" sz="1800" dirty="0"/>
              <a:t>内置 </a:t>
            </a:r>
            <a:r>
              <a:rPr lang="en-US" altLang="zh-CN" sz="1800" b="1" dirty="0"/>
              <a:t>AI </a:t>
            </a:r>
            <a:r>
              <a:rPr lang="zh-CN" altLang="en-US" sz="1800" b="1" dirty="0"/>
              <a:t>审核功能</a:t>
            </a:r>
            <a:r>
              <a:rPr lang="zh-CN" altLang="en-US" sz="1800" dirty="0"/>
              <a:t>，构建关键词</a:t>
            </a:r>
            <a:r>
              <a:rPr lang="en-US" altLang="zh-CN" sz="1800" dirty="0"/>
              <a:t>-AI</a:t>
            </a:r>
            <a:r>
              <a:rPr lang="zh-CN" altLang="en-US" sz="1800" dirty="0"/>
              <a:t>审核</a:t>
            </a:r>
            <a:r>
              <a:rPr lang="en-US" altLang="zh-CN" sz="1800" dirty="0"/>
              <a:t>-</a:t>
            </a:r>
            <a:r>
              <a:rPr lang="zh-CN" altLang="en-US" sz="1800" dirty="0"/>
              <a:t>人工审核三层保险；</a:t>
            </a:r>
            <a:endParaRPr lang="en-US" altLang="zh-CN" sz="1800" dirty="0"/>
          </a:p>
          <a:p>
            <a:r>
              <a:rPr lang="zh-CN" altLang="en-US" sz="1800" dirty="0"/>
              <a:t>针对“</a:t>
            </a:r>
            <a:r>
              <a:rPr lang="zh-CN" altLang="en-US" sz="1800" b="1" dirty="0"/>
              <a:t>找搭子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组局</a:t>
            </a:r>
            <a:r>
              <a:rPr lang="zh-CN" altLang="en-US" sz="1800" dirty="0"/>
              <a:t>”类帖子，支持设置 人数限制 和 截止时间，</a:t>
            </a:r>
            <a:r>
              <a:rPr lang="en-US" altLang="zh-CN" sz="1800" b="1" dirty="0"/>
              <a:t>MySQL </a:t>
            </a:r>
            <a:r>
              <a:rPr lang="zh-CN" altLang="en-US" sz="1800" b="1" dirty="0"/>
              <a:t>事务</a:t>
            </a:r>
            <a:r>
              <a:rPr lang="zh-CN" altLang="en-US" sz="1800" dirty="0"/>
              <a:t>配合 </a:t>
            </a:r>
            <a:r>
              <a:rPr lang="zh-CN" altLang="en-US" sz="1800" b="1" dirty="0"/>
              <a:t>原子更新操作</a:t>
            </a:r>
            <a:endParaRPr lang="en-US" altLang="zh-CN" sz="1800" dirty="0"/>
          </a:p>
          <a:p>
            <a:r>
              <a:rPr lang="zh-CN" altLang="en-US" sz="1800" dirty="0"/>
              <a:t>支持点赞、收藏、以及 多级评论回复，</a:t>
            </a:r>
            <a:r>
              <a:rPr lang="zh-CN" altLang="en-US" sz="1800" b="1" dirty="0"/>
              <a:t>基于 </a:t>
            </a:r>
            <a:r>
              <a:rPr lang="en-US" altLang="zh-CN" sz="1800" b="1" dirty="0"/>
              <a:t>Redis </a:t>
            </a:r>
            <a:r>
              <a:rPr lang="zh-CN" altLang="en-US" sz="1800" b="1" dirty="0"/>
              <a:t>的高吞吐量互动计数架构</a:t>
            </a:r>
            <a:endParaRPr lang="en-US" altLang="zh-CN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532A2D-12B5-492E-8541-77C7B5F31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649" y="6016799"/>
            <a:ext cx="1400000" cy="504762"/>
          </a:xfrm>
          <a:prstGeom prst="rect">
            <a:avLst/>
          </a:prstGeom>
        </p:spPr>
      </p:pic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6A5A2C54-A671-4BE7-8D84-29A66864ECC4}"/>
              </a:ext>
            </a:extLst>
          </p:cNvPr>
          <p:cNvSpPr>
            <a:spLocks noGrp="1"/>
          </p:cNvSpPr>
          <p:nvPr/>
        </p:nvSpPr>
        <p:spPr>
          <a:xfrm>
            <a:off x="1308295" y="3312828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b="1" dirty="0"/>
          </a:p>
        </p:txBody>
      </p:sp>
      <p:sp>
        <p:nvSpPr>
          <p:cNvPr id="10" name="内容占位符 10">
            <a:extLst>
              <a:ext uri="{FF2B5EF4-FFF2-40B4-BE49-F238E27FC236}">
                <a16:creationId xmlns:a16="http://schemas.microsoft.com/office/drawing/2014/main" id="{CDEDB3A0-7197-4D96-8965-335DD557309C}"/>
              </a:ext>
            </a:extLst>
          </p:cNvPr>
          <p:cNvSpPr>
            <a:spLocks noGrp="1"/>
          </p:cNvSpPr>
          <p:nvPr/>
        </p:nvSpPr>
        <p:spPr>
          <a:xfrm>
            <a:off x="241299" y="4235825"/>
            <a:ext cx="5854701" cy="183241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内置基于 </a:t>
            </a:r>
            <a:r>
              <a:rPr lang="en-US" altLang="zh-CN" sz="1800" b="1" dirty="0"/>
              <a:t>LLM </a:t>
            </a:r>
            <a:r>
              <a:rPr lang="zh-CN" altLang="en-US" sz="1800" b="1" dirty="0"/>
              <a:t>的写作助手</a:t>
            </a:r>
            <a:r>
              <a:rPr lang="zh-CN" altLang="en-US" sz="1800" dirty="0"/>
              <a:t>，能够深度理解用户输入的原始文本。针对不同场景，自动</a:t>
            </a:r>
            <a:r>
              <a:rPr lang="zh-CN" altLang="en-US" sz="1800" b="1" dirty="0"/>
              <a:t>调整语气</a:t>
            </a:r>
            <a:r>
              <a:rPr lang="zh-CN" altLang="en-US" sz="1800" dirty="0"/>
              <a:t>（活泼</a:t>
            </a:r>
            <a:r>
              <a:rPr lang="en-US" altLang="zh-CN" sz="1800" dirty="0"/>
              <a:t>/</a:t>
            </a:r>
            <a:r>
              <a:rPr lang="zh-CN" altLang="en-US" sz="1800" dirty="0"/>
              <a:t>诚恳），智能</a:t>
            </a:r>
            <a:r>
              <a:rPr lang="zh-CN" altLang="en-US" sz="1800" b="1" dirty="0"/>
              <a:t>添加 </a:t>
            </a:r>
            <a:r>
              <a:rPr lang="en-US" altLang="zh-CN" sz="1800" b="1" dirty="0"/>
              <a:t>Emoji </a:t>
            </a:r>
            <a:r>
              <a:rPr lang="zh-CN" altLang="en-US" sz="1800" b="1" dirty="0"/>
              <a:t>表情</a:t>
            </a:r>
            <a:r>
              <a:rPr lang="zh-CN" altLang="en-US" sz="1800" dirty="0"/>
              <a:t>，优化段落排版，让帖子瞬间具备高吸引力和高互动潜质。</a:t>
            </a:r>
            <a:endParaRPr lang="en-US" altLang="zh-CN" sz="1800" b="1" dirty="0"/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9C3D4409-30F6-47A3-9405-05669763D1BC}"/>
              </a:ext>
            </a:extLst>
          </p:cNvPr>
          <p:cNvSpPr>
            <a:spLocks noGrp="1"/>
          </p:cNvSpPr>
          <p:nvPr/>
        </p:nvSpPr>
        <p:spPr>
          <a:xfrm>
            <a:off x="6036310" y="4202224"/>
            <a:ext cx="5854701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采用 </a:t>
            </a:r>
            <a:r>
              <a:rPr lang="zh-CN" altLang="en-US" sz="1800" b="1" dirty="0"/>
              <a:t>“本地敏感词库 </a:t>
            </a:r>
            <a:r>
              <a:rPr lang="en-US" altLang="zh-CN" sz="1800" b="1" dirty="0"/>
              <a:t>+ AI </a:t>
            </a:r>
            <a:r>
              <a:rPr lang="zh-CN" altLang="en-US" sz="1800" b="1" dirty="0"/>
              <a:t>语义分析”</a:t>
            </a:r>
            <a:r>
              <a:rPr lang="zh-CN" altLang="en-US" sz="1800" dirty="0"/>
              <a:t> 的双重过滤机制。不仅能毫秒级拦截违规关键词，更能通过大模型理解上下文语义，精准识别隐晦的辱骂、诈骗、涉黄或暴力内容，将风险阻断在发布之前。</a:t>
            </a:r>
            <a:endParaRPr lang="en-US" altLang="zh-CN" sz="18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6FE667-B21C-4F2D-8104-B6CEBB714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144" y="1653471"/>
            <a:ext cx="3483453" cy="231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2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630EB537-07FD-49A1-BD9C-D5EFCF11E046}"/>
              </a:ext>
            </a:extLst>
          </p:cNvPr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管理员模块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690A79D3-A217-4AEC-93AF-F16AB44A98E7}"/>
              </a:ext>
            </a:extLst>
          </p:cNvPr>
          <p:cNvSpPr>
            <a:spLocks noGrp="1"/>
          </p:cNvSpPr>
          <p:nvPr/>
        </p:nvSpPr>
        <p:spPr>
          <a:xfrm>
            <a:off x="241298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数据看板：</a:t>
            </a:r>
            <a:r>
              <a:rPr lang="zh-CN" altLang="en-US" sz="1800" dirty="0"/>
              <a:t>展示用户总数、帖子总数、日活趋势等核心指标，辅助运营决策。</a:t>
            </a:r>
            <a:endParaRPr lang="en-US" altLang="zh-CN" sz="1800" b="1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75C7FAE6-EB48-4D38-8059-DAE3E43C6E95}"/>
              </a:ext>
            </a:extLst>
          </p:cNvPr>
          <p:cNvSpPr>
            <a:spLocks noGrp="1"/>
          </p:cNvSpPr>
          <p:nvPr/>
        </p:nvSpPr>
        <p:spPr>
          <a:xfrm>
            <a:off x="3872129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用户管理：</a:t>
            </a:r>
            <a:r>
              <a:rPr lang="zh-CN" altLang="en-US" sz="1800" dirty="0"/>
              <a:t>查看全站用户信息、注册时间及状态；对严重违规用户进行封号处理。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F4645FB6-592C-46F1-BCEF-DA772FCE24DE}"/>
              </a:ext>
            </a:extLst>
          </p:cNvPr>
          <p:cNvSpPr>
            <a:spLocks noGrp="1"/>
          </p:cNvSpPr>
          <p:nvPr/>
        </p:nvSpPr>
        <p:spPr>
          <a:xfrm>
            <a:off x="7502960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内容审核与管理：</a:t>
            </a:r>
            <a:r>
              <a:rPr lang="zh-CN" altLang="en-US" sz="1800" dirty="0"/>
              <a:t>内容审核；违规处理；帖子置顶；官方发帖</a:t>
            </a:r>
            <a:endParaRPr lang="en-US" altLang="zh-CN" sz="1800" dirty="0"/>
          </a:p>
        </p:txBody>
      </p:sp>
      <p:sp>
        <p:nvSpPr>
          <p:cNvPr id="16" name="内容占位符 10">
            <a:extLst>
              <a:ext uri="{FF2B5EF4-FFF2-40B4-BE49-F238E27FC236}">
                <a16:creationId xmlns:a16="http://schemas.microsoft.com/office/drawing/2014/main" id="{80B45C7B-2AF7-4F5D-BFF8-20F57324BB3E}"/>
              </a:ext>
            </a:extLst>
          </p:cNvPr>
          <p:cNvSpPr>
            <a:spLocks noGrp="1"/>
          </p:cNvSpPr>
          <p:nvPr/>
        </p:nvSpPr>
        <p:spPr>
          <a:xfrm>
            <a:off x="3872128" y="5318575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宿舍与通知管理：</a:t>
            </a:r>
            <a:r>
              <a:rPr lang="zh-CN" altLang="en-US" sz="1800" dirty="0"/>
              <a:t>增删宿舍楼信息；发布全站系统通知；</a:t>
            </a:r>
            <a:endParaRPr lang="en-US" altLang="zh-CN" sz="1800" dirty="0"/>
          </a:p>
        </p:txBody>
      </p:sp>
      <p:sp>
        <p:nvSpPr>
          <p:cNvPr id="18" name="内容占位符 10">
            <a:extLst>
              <a:ext uri="{FF2B5EF4-FFF2-40B4-BE49-F238E27FC236}">
                <a16:creationId xmlns:a16="http://schemas.microsoft.com/office/drawing/2014/main" id="{A569B5F5-81DC-41CC-ABD3-FD065799EC55}"/>
              </a:ext>
            </a:extLst>
          </p:cNvPr>
          <p:cNvSpPr>
            <a:spLocks noGrp="1"/>
          </p:cNvSpPr>
          <p:nvPr/>
        </p:nvSpPr>
        <p:spPr>
          <a:xfrm>
            <a:off x="7502959" y="5318575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系统配置：</a:t>
            </a:r>
            <a:r>
              <a:rPr lang="zh-CN" altLang="en-US" sz="1800" dirty="0"/>
              <a:t>敏感词过滤；分类配置；</a:t>
            </a: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85BD24-007D-4166-A701-7AE7A549E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82" y="3136927"/>
            <a:ext cx="4822957" cy="18820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1124D7-2BBC-4E34-B076-19F80B1F1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22" y="3217453"/>
            <a:ext cx="5538378" cy="21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8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项目实现中遇到的问题及解决方案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3D33D9BB-794F-4C5D-848A-41E03EFFE14C}"/>
              </a:ext>
            </a:extLst>
          </p:cNvPr>
          <p:cNvSpPr>
            <a:spLocks noGrp="1"/>
          </p:cNvSpPr>
          <p:nvPr/>
        </p:nvSpPr>
        <p:spPr>
          <a:xfrm>
            <a:off x="241298" y="1509370"/>
            <a:ext cx="4731728" cy="458194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信息茧房与全局视野的冲突</a:t>
            </a:r>
            <a:endParaRPr lang="en-US" altLang="zh-CN" sz="1800" b="1" dirty="0"/>
          </a:p>
          <a:p>
            <a:r>
              <a:rPr lang="zh-CN" altLang="en-US" sz="1800" dirty="0"/>
              <a:t>初衷：“楼内互助”</a:t>
            </a:r>
            <a:endParaRPr lang="en-US" altLang="zh-CN" sz="1800" dirty="0"/>
          </a:p>
          <a:p>
            <a:r>
              <a:rPr lang="zh-CN" altLang="en-US" sz="1800" dirty="0"/>
              <a:t>冷启动问题</a:t>
            </a:r>
            <a:endParaRPr lang="en-US" altLang="zh-CN" sz="1800" dirty="0"/>
          </a:p>
          <a:p>
            <a:r>
              <a:rPr lang="zh-CN" altLang="en-US" sz="1800" dirty="0"/>
              <a:t>官方通知跨楼栋的，需全员可见</a:t>
            </a:r>
            <a:endParaRPr lang="en-US" altLang="zh-CN" sz="1800" dirty="0"/>
          </a:p>
          <a:p>
            <a:r>
              <a:rPr lang="zh-CN" altLang="en-US" sz="1800" dirty="0"/>
              <a:t>采用 </a:t>
            </a:r>
            <a:r>
              <a:rPr lang="zh-CN" altLang="en-US" sz="1800" b="1" dirty="0"/>
              <a:t>“默认本楼 </a:t>
            </a:r>
            <a:r>
              <a:rPr lang="en-US" altLang="zh-CN" sz="1800" b="1" dirty="0"/>
              <a:t>+ </a:t>
            </a:r>
            <a:r>
              <a:rPr lang="zh-CN" altLang="en-US" sz="1800" b="1" dirty="0"/>
              <a:t>全局透视 </a:t>
            </a:r>
            <a:r>
              <a:rPr lang="en-US" altLang="zh-CN" sz="1800" b="1" dirty="0"/>
              <a:t>+ </a:t>
            </a:r>
            <a:r>
              <a:rPr lang="zh-CN" altLang="en-US" sz="1800" b="1" dirty="0"/>
              <a:t>官方置顶”</a:t>
            </a:r>
            <a:r>
              <a:rPr lang="zh-CN" altLang="en-US" sz="1800" dirty="0"/>
              <a:t> 的混合分发逻辑。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4DF3B0-4E32-438B-9F12-6E66F33C0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97" y="1275894"/>
            <a:ext cx="4664230" cy="519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4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项目代码介绍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488841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前端</a:t>
            </a:r>
            <a:r>
              <a:rPr lang="zh-CN" altLang="en-US" sz="1800" dirty="0">
                <a:sym typeface="+mn-ea"/>
              </a:rPr>
              <a:t>采用</a:t>
            </a:r>
            <a:r>
              <a:rPr lang="fr-FR" altLang="zh-CN" sz="1800" dirty="0"/>
              <a:t>Vue 3 + TypeScript</a:t>
            </a:r>
            <a:r>
              <a:rPr lang="zh-CN" altLang="en-US" sz="1800" dirty="0"/>
              <a:t>核心框架，</a:t>
            </a:r>
            <a:r>
              <a:rPr lang="en-US" altLang="zh-CN" sz="1800" dirty="0" err="1"/>
              <a:t>Vite</a:t>
            </a:r>
            <a:r>
              <a:rPr lang="zh-CN" altLang="en-US" sz="1800" dirty="0"/>
              <a:t>作为构建工具，</a:t>
            </a:r>
            <a:r>
              <a:rPr lang="en-US" altLang="zh-CN" sz="1800" dirty="0"/>
              <a:t>Element Plus UI </a:t>
            </a:r>
            <a:r>
              <a:rPr lang="zh-CN" altLang="en-US" sz="1800" dirty="0"/>
              <a:t>组件库，</a:t>
            </a:r>
            <a:r>
              <a:rPr lang="en-US" altLang="zh-CN" sz="1800" dirty="0" err="1"/>
              <a:t>Pinia</a:t>
            </a:r>
            <a:r>
              <a:rPr lang="zh-CN" altLang="en-US" sz="1800" dirty="0"/>
              <a:t>进行状态管理</a:t>
            </a:r>
            <a:r>
              <a:rPr lang="en-US" altLang="zh-CN" sz="1800" dirty="0"/>
              <a:t>(</a:t>
            </a:r>
            <a:r>
              <a:rPr lang="zh-CN" altLang="en-US" sz="1800" dirty="0"/>
              <a:t>管理用户登录态、未读消息数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Axios</a:t>
            </a:r>
            <a:r>
              <a:rPr lang="zh-CN" altLang="en-US" sz="1800" dirty="0"/>
              <a:t>进行网络请求</a:t>
            </a:r>
            <a:r>
              <a:rPr lang="en-US" altLang="zh-CN" sz="1800" dirty="0"/>
              <a:t>(</a:t>
            </a:r>
            <a:r>
              <a:rPr lang="zh-CN" altLang="en-US" sz="1800" dirty="0"/>
              <a:t>封装拦截器，处理 </a:t>
            </a:r>
            <a:r>
              <a:rPr lang="en-US" altLang="zh-CN" sz="1800" dirty="0"/>
              <a:t>Token </a:t>
            </a:r>
            <a:r>
              <a:rPr lang="zh-CN" altLang="en-US" sz="1800" dirty="0"/>
              <a:t>和全局错误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Vue Router</a:t>
            </a:r>
            <a:r>
              <a:rPr lang="zh-CN" altLang="en-US" sz="1800" dirty="0"/>
              <a:t>路由管理；</a:t>
            </a:r>
            <a:endParaRPr lang="zh-CN" altLang="en-US" sz="1800" dirty="0"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5B6FB8-959E-480C-8CC6-18AC5D388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5" y="2880042"/>
            <a:ext cx="1835012" cy="3122240"/>
          </a:xfrm>
          <a:prstGeom prst="rect">
            <a:avLst/>
          </a:prstGeom>
        </p:spPr>
      </p:pic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93D21048-B0F0-45EE-9A2C-65EBD8C4A067}"/>
              </a:ext>
            </a:extLst>
          </p:cNvPr>
          <p:cNvSpPr>
            <a:spLocks noGrp="1"/>
          </p:cNvSpPr>
          <p:nvPr/>
        </p:nvSpPr>
        <p:spPr>
          <a:xfrm>
            <a:off x="2590108" y="2687868"/>
            <a:ext cx="8622209" cy="74542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视图层 </a:t>
            </a:r>
            <a:r>
              <a:rPr lang="en-US" altLang="zh-CN" sz="1800" b="1" dirty="0"/>
              <a:t>(View)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页面级的容器，负责整体布局和路由挂载。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AE39D881-99E9-445B-BA00-A0EA060ED104}"/>
              </a:ext>
            </a:extLst>
          </p:cNvPr>
          <p:cNvSpPr>
            <a:spLocks noGrp="1"/>
          </p:cNvSpPr>
          <p:nvPr/>
        </p:nvSpPr>
        <p:spPr>
          <a:xfrm>
            <a:off x="2590108" y="3454019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组件层 </a:t>
            </a:r>
            <a:r>
              <a:rPr lang="en-US" altLang="zh-CN" sz="1800" b="1" dirty="0"/>
              <a:t>(Component)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可复用的 </a:t>
            </a:r>
            <a:r>
              <a:rPr lang="en-US" altLang="zh-CN" sz="1800" dirty="0"/>
              <a:t>UI </a:t>
            </a:r>
            <a:r>
              <a:rPr lang="zh-CN" altLang="en-US" sz="1800" dirty="0"/>
              <a:t>单元，将复杂页面拆解，降低耦合。</a:t>
            </a:r>
            <a:endParaRPr lang="en-US" altLang="zh-CN" sz="1800" dirty="0"/>
          </a:p>
        </p:txBody>
      </p:sp>
      <p:sp>
        <p:nvSpPr>
          <p:cNvPr id="17" name="内容占位符 10">
            <a:extLst>
              <a:ext uri="{FF2B5EF4-FFF2-40B4-BE49-F238E27FC236}">
                <a16:creationId xmlns:a16="http://schemas.microsoft.com/office/drawing/2014/main" id="{E5E96B58-19E9-4B87-92E6-02DDAB54A6D8}"/>
              </a:ext>
            </a:extLst>
          </p:cNvPr>
          <p:cNvSpPr>
            <a:spLocks noGrp="1"/>
          </p:cNvSpPr>
          <p:nvPr/>
        </p:nvSpPr>
        <p:spPr>
          <a:xfrm>
            <a:off x="2577033" y="4254370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状态管理层 </a:t>
            </a:r>
            <a:r>
              <a:rPr lang="en-US" altLang="zh-CN" sz="1800" b="1" dirty="0"/>
              <a:t>(Stores)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管理全局共享数据，解决跨组件通信难题。</a:t>
            </a:r>
            <a:endParaRPr lang="en-US" altLang="zh-CN" sz="1800" dirty="0"/>
          </a:p>
        </p:txBody>
      </p:sp>
      <p:sp>
        <p:nvSpPr>
          <p:cNvPr id="19" name="内容占位符 10">
            <a:extLst>
              <a:ext uri="{FF2B5EF4-FFF2-40B4-BE49-F238E27FC236}">
                <a16:creationId xmlns:a16="http://schemas.microsoft.com/office/drawing/2014/main" id="{4EFB6B19-595B-4FC0-B6B7-D06001FF602C}"/>
              </a:ext>
            </a:extLst>
          </p:cNvPr>
          <p:cNvSpPr>
            <a:spLocks noGrp="1"/>
          </p:cNvSpPr>
          <p:nvPr/>
        </p:nvSpPr>
        <p:spPr>
          <a:xfrm>
            <a:off x="2590107" y="5050211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网络层 </a:t>
            </a:r>
            <a:r>
              <a:rPr lang="en-US" altLang="zh-CN" sz="1800" b="1" dirty="0"/>
              <a:t>(</a:t>
            </a:r>
            <a:r>
              <a:rPr lang="en-US" altLang="zh-CN" sz="1800" b="1" dirty="0" err="1"/>
              <a:t>utils&amp;api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统一处理 </a:t>
            </a:r>
            <a:r>
              <a:rPr lang="en-US" altLang="zh-CN" sz="1800" dirty="0"/>
              <a:t>API </a:t>
            </a:r>
            <a:r>
              <a:rPr lang="zh-CN" altLang="en-US" sz="1800" dirty="0"/>
              <a:t>请求，封装 </a:t>
            </a:r>
            <a:r>
              <a:rPr lang="en-US" altLang="zh-CN" sz="1800" dirty="0"/>
              <a:t>Header (Token) </a:t>
            </a:r>
            <a:r>
              <a:rPr lang="zh-CN" altLang="en-US" sz="1800" dirty="0"/>
              <a:t>和 响应拦截。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22312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项目代码介绍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488841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后端</a:t>
            </a:r>
            <a:r>
              <a:rPr lang="zh-CN" altLang="en-US" sz="1800" dirty="0">
                <a:sym typeface="+mn-ea"/>
              </a:rPr>
              <a:t>采用</a:t>
            </a:r>
            <a:r>
              <a:rPr lang="en-US" altLang="zh-CN" sz="1800" dirty="0"/>
              <a:t>Go</a:t>
            </a:r>
            <a:r>
              <a:rPr lang="zh-CN" altLang="en-US" sz="1800" dirty="0"/>
              <a:t>作为开发语言，</a:t>
            </a:r>
            <a:r>
              <a:rPr lang="en-US" altLang="zh-CN" sz="1800" dirty="0"/>
              <a:t>Gin</a:t>
            </a:r>
            <a:r>
              <a:rPr lang="zh-CN" altLang="en-US" sz="1800" dirty="0"/>
              <a:t>框架、</a:t>
            </a:r>
            <a:r>
              <a:rPr lang="en-US" altLang="zh-CN" sz="1800" dirty="0"/>
              <a:t>ORM </a:t>
            </a:r>
            <a:r>
              <a:rPr lang="zh-CN" altLang="en-US" sz="1800" dirty="0"/>
              <a:t>框架，</a:t>
            </a:r>
            <a:r>
              <a:rPr lang="en-US" altLang="zh-CN" sz="1800" dirty="0"/>
              <a:t>Redis</a:t>
            </a:r>
            <a:r>
              <a:rPr lang="zh-CN" altLang="en-US" sz="1800" dirty="0"/>
              <a:t>处理高并发读、帖子列表缓存，调用</a:t>
            </a:r>
            <a:r>
              <a:rPr lang="en-US" altLang="zh-CN" sz="1800" dirty="0"/>
              <a:t>LLM API</a:t>
            </a:r>
            <a:r>
              <a:rPr lang="zh-CN" altLang="en-US" sz="1800" dirty="0"/>
              <a:t>，</a:t>
            </a:r>
            <a:r>
              <a:rPr lang="en-US" altLang="zh-CN" sz="1800" dirty="0"/>
              <a:t>JWT</a:t>
            </a:r>
            <a:r>
              <a:rPr lang="zh-CN" altLang="en-US" sz="1800" dirty="0"/>
              <a:t>鉴权机制</a:t>
            </a:r>
            <a:endParaRPr lang="zh-CN" altLang="en-US" sz="1800" dirty="0"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1B2B83-2CCE-49DF-9419-7C4F82BA3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02" y="2387677"/>
            <a:ext cx="2014254" cy="3588715"/>
          </a:xfrm>
          <a:prstGeom prst="rect">
            <a:avLst/>
          </a:prstGeom>
        </p:spPr>
      </p:pic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A5CBEFA4-8795-47BD-A0D9-09DF0EF502EE}"/>
              </a:ext>
            </a:extLst>
          </p:cNvPr>
          <p:cNvSpPr>
            <a:spLocks noGrp="1"/>
          </p:cNvSpPr>
          <p:nvPr/>
        </p:nvSpPr>
        <p:spPr>
          <a:xfrm>
            <a:off x="2818825" y="2387677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路由与中间件层</a:t>
            </a:r>
            <a:r>
              <a:rPr lang="en-US" altLang="zh-CN" sz="1800" b="1" dirty="0"/>
              <a:t>(Router &amp; Middleware)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流量入口，负责 </a:t>
            </a:r>
            <a:r>
              <a:rPr lang="en-US" altLang="zh-CN" sz="1800" dirty="0"/>
              <a:t>URL </a:t>
            </a:r>
            <a:r>
              <a:rPr lang="zh-CN" altLang="en-US" sz="1800" dirty="0"/>
              <a:t>分发、跨域处理 </a:t>
            </a:r>
            <a:r>
              <a:rPr lang="en-US" altLang="zh-CN" sz="1800" dirty="0"/>
              <a:t>(CORS)</a:t>
            </a:r>
            <a:r>
              <a:rPr lang="zh-CN" altLang="en-US" sz="1800" dirty="0"/>
              <a:t>、身份鉴权 </a:t>
            </a:r>
            <a:r>
              <a:rPr lang="en-US" altLang="zh-CN" sz="1800" dirty="0"/>
              <a:t>(JWT Auth)</a:t>
            </a:r>
          </a:p>
        </p:txBody>
      </p:sp>
      <p:sp>
        <p:nvSpPr>
          <p:cNvPr id="16" name="内容占位符 10">
            <a:extLst>
              <a:ext uri="{FF2B5EF4-FFF2-40B4-BE49-F238E27FC236}">
                <a16:creationId xmlns:a16="http://schemas.microsoft.com/office/drawing/2014/main" id="{01AD9761-34AE-4844-9CA1-4C3F2C3EB392}"/>
              </a:ext>
            </a:extLst>
          </p:cNvPr>
          <p:cNvSpPr>
            <a:spLocks noGrp="1"/>
          </p:cNvSpPr>
          <p:nvPr/>
        </p:nvSpPr>
        <p:spPr>
          <a:xfrm>
            <a:off x="2818826" y="3462889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控制层 </a:t>
            </a:r>
            <a:r>
              <a:rPr lang="en-US" altLang="zh-CN" sz="1800" b="1" dirty="0"/>
              <a:t>(Controller)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解析 </a:t>
            </a:r>
            <a:r>
              <a:rPr lang="en-US" altLang="zh-CN" sz="1800" dirty="0"/>
              <a:t>HTTP </a:t>
            </a:r>
            <a:r>
              <a:rPr lang="zh-CN" altLang="en-US" sz="1800" dirty="0"/>
              <a:t>请求参数，校验参数合法性，调用 </a:t>
            </a:r>
            <a:r>
              <a:rPr lang="en-US" altLang="zh-CN" sz="1800" dirty="0"/>
              <a:t>Logic </a:t>
            </a:r>
            <a:r>
              <a:rPr lang="zh-CN" altLang="en-US" sz="1800" dirty="0"/>
              <a:t>层，格式化返回 </a:t>
            </a:r>
            <a:r>
              <a:rPr lang="en-US" altLang="zh-CN" sz="1800" dirty="0"/>
              <a:t>JSON</a:t>
            </a:r>
            <a:r>
              <a:rPr lang="zh-CN" altLang="en-US" sz="1800" dirty="0"/>
              <a:t>。</a:t>
            </a:r>
            <a:endParaRPr lang="en-US" altLang="zh-CN" sz="1800" dirty="0"/>
          </a:p>
        </p:txBody>
      </p:sp>
      <p:sp>
        <p:nvSpPr>
          <p:cNvPr id="17" name="内容占位符 10">
            <a:extLst>
              <a:ext uri="{FF2B5EF4-FFF2-40B4-BE49-F238E27FC236}">
                <a16:creationId xmlns:a16="http://schemas.microsoft.com/office/drawing/2014/main" id="{8246D7F8-F93A-46E3-8171-F9E226565974}"/>
              </a:ext>
            </a:extLst>
          </p:cNvPr>
          <p:cNvSpPr>
            <a:spLocks noGrp="1"/>
          </p:cNvSpPr>
          <p:nvPr/>
        </p:nvSpPr>
        <p:spPr>
          <a:xfrm>
            <a:off x="2818826" y="4570850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业务逻辑层 </a:t>
            </a:r>
            <a:r>
              <a:rPr lang="en-US" altLang="zh-CN" sz="1800" b="1" dirty="0"/>
              <a:t>(Logic)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核心业务处理中心。负责组装数据、调用 </a:t>
            </a:r>
            <a:r>
              <a:rPr lang="en-US" altLang="zh-CN" sz="1800" dirty="0"/>
              <a:t>AI </a:t>
            </a:r>
            <a:r>
              <a:rPr lang="zh-CN" altLang="en-US" sz="1800" dirty="0"/>
              <a:t>接口、处理缓存策略。</a:t>
            </a:r>
            <a:endParaRPr lang="en-US" altLang="zh-CN" sz="1800" dirty="0"/>
          </a:p>
        </p:txBody>
      </p:sp>
      <p:sp>
        <p:nvSpPr>
          <p:cNvPr id="18" name="内容占位符 10">
            <a:extLst>
              <a:ext uri="{FF2B5EF4-FFF2-40B4-BE49-F238E27FC236}">
                <a16:creationId xmlns:a16="http://schemas.microsoft.com/office/drawing/2014/main" id="{0DAE20A6-867B-47CE-B9D4-83976887158D}"/>
              </a:ext>
            </a:extLst>
          </p:cNvPr>
          <p:cNvSpPr>
            <a:spLocks noGrp="1"/>
          </p:cNvSpPr>
          <p:nvPr/>
        </p:nvSpPr>
        <p:spPr>
          <a:xfrm>
            <a:off x="2818826" y="5645937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数据访问层 </a:t>
            </a:r>
            <a:r>
              <a:rPr lang="en-US" altLang="zh-CN" sz="1800" b="1" dirty="0"/>
              <a:t>(Model)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直接与数据库交互，定义数据模型 </a:t>
            </a:r>
            <a:r>
              <a:rPr lang="en-US" altLang="zh-CN" sz="1800" dirty="0"/>
              <a:t>(Struct) </a:t>
            </a:r>
            <a:r>
              <a:rPr lang="zh-CN" altLang="en-US" sz="1800" dirty="0"/>
              <a:t>和 </a:t>
            </a:r>
            <a:r>
              <a:rPr lang="en-US" altLang="zh-CN" sz="1800" dirty="0"/>
              <a:t>SQL </a:t>
            </a:r>
            <a:r>
              <a:rPr lang="zh-CN" altLang="en-US" sz="1800" dirty="0"/>
              <a:t>操作。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93232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部分测试报告展示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765334"/>
            <a:ext cx="5350707" cy="832328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敏感词匹配测试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A96B33-4D77-4718-AF85-95B326746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09" y="2821460"/>
            <a:ext cx="5350706" cy="2760424"/>
          </a:xfrm>
          <a:prstGeom prst="rect">
            <a:avLst/>
          </a:prstGeom>
        </p:spPr>
      </p:pic>
      <p:sp>
        <p:nvSpPr>
          <p:cNvPr id="10" name="内容占位符 10">
            <a:extLst>
              <a:ext uri="{FF2B5EF4-FFF2-40B4-BE49-F238E27FC236}">
                <a16:creationId xmlns:a16="http://schemas.microsoft.com/office/drawing/2014/main" id="{711261D3-D26E-4D21-8B0D-30EEF87DCA74}"/>
              </a:ext>
            </a:extLst>
          </p:cNvPr>
          <p:cNvSpPr>
            <a:spLocks noGrp="1"/>
          </p:cNvSpPr>
          <p:nvPr/>
        </p:nvSpPr>
        <p:spPr>
          <a:xfrm>
            <a:off x="5596061" y="1719879"/>
            <a:ext cx="5350707" cy="832328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>
                <a:sym typeface="+mn-ea"/>
              </a:rPr>
              <a:t>API</a:t>
            </a:r>
            <a:r>
              <a:rPr lang="zh-CN" altLang="en-US" sz="1800" b="1" dirty="0">
                <a:sym typeface="+mn-ea"/>
              </a:rPr>
              <a:t>接口测试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DE2D7C-D1B5-46D3-A2D3-6C22788A4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960" y="2849705"/>
            <a:ext cx="5760686" cy="175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9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会议记录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会议记录展示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B64A36-B138-4DE7-ADBF-819BE40A3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95" y="1679520"/>
            <a:ext cx="1692748" cy="37616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F74E0BA-7D4F-47B1-9ABE-325C08037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033" y="1652638"/>
            <a:ext cx="1692747" cy="37616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42D7EDC-4CFE-429E-9394-B55BFF759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80" y="1652638"/>
            <a:ext cx="1692746" cy="37616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AB9E6B7-F2A8-402B-8214-16BC0FB5DE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215" y="1649339"/>
            <a:ext cx="1692748" cy="376166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BD675A6-1C76-4FA9-B8BB-304B5E4ADC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961" y="1649339"/>
            <a:ext cx="1703826" cy="378628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7F258CA-5FCE-44FE-AE94-11B0B06CDB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788" y="1679520"/>
            <a:ext cx="1679166" cy="37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70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会议记录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会议记录展示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5971DE-0852-4DE5-84B8-712786FD9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16" y="1629414"/>
            <a:ext cx="1982239" cy="44049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50D85C-C598-4765-BE3C-06953895A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442" y="1629415"/>
            <a:ext cx="1982238" cy="44049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D804DC-0B8A-42FE-ACA4-223F38289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899" y="1626116"/>
            <a:ext cx="2035243" cy="45227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D7CA60-275D-4417-9B50-EEFC47FCB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142" y="1617659"/>
            <a:ext cx="2035244" cy="452276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F10AB75-1A93-43EA-8230-4DF6530E62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604" y="1662899"/>
            <a:ext cx="2035244" cy="452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7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1192</Words>
  <Application>Microsoft Office PowerPoint</Application>
  <PresentationFormat>宽屏</PresentationFormat>
  <Paragraphs>90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1分工介绍</vt:lpstr>
      <vt:lpstr>2项目介绍</vt:lpstr>
      <vt:lpstr>2项目介绍</vt:lpstr>
      <vt:lpstr>2项目介绍</vt:lpstr>
      <vt:lpstr>2项目介绍</vt:lpstr>
      <vt:lpstr>2项目介绍</vt:lpstr>
      <vt:lpstr>2项目介绍</vt:lpstr>
      <vt:lpstr>2项目介绍</vt:lpstr>
      <vt:lpstr>2项目介绍</vt:lpstr>
      <vt:lpstr>3会议记录</vt:lpstr>
      <vt:lpstr>3会议记录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2324804308@qq.com</dc:creator>
  <cp:lastModifiedBy>2324804308@qq.com</cp:lastModifiedBy>
  <cp:revision>36</cp:revision>
  <dcterms:created xsi:type="dcterms:W3CDTF">2026-01-13T03:24:06Z</dcterms:created>
  <dcterms:modified xsi:type="dcterms:W3CDTF">2026-01-14T16:15:49Z</dcterms:modified>
</cp:coreProperties>
</file>