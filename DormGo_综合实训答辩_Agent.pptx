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6F1E4-0A62-4D65-B21A-E2330265C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1C4AE8-C386-4F89-A3E5-CC628A206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E36D8-BF98-470A-B1EB-8DFF133055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03424-1140-4E58-B6B4-79D86F1D9A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57D08-910B-486E-B538-DCAC1FBB0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7145-BF0D-49A1-B575-C99021E9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ADE60-D44E-4EF3-B8E2-DCDC15A5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740C7-5B0F-4031-803A-7AA9249B3F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86315-2EBE-4700-B751-47393B0227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5713E-A0DC-4D98-B949-F7141C46F5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72D79-C3EC-40E9-8DBB-74D205C0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CA832F-6543-4A60-9FEE-E4C72F891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B478B-0C2E-4F89-9542-587C948425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BE3AC-47EE-435F-BA24-67BD2FDA05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F2F1F-2BAB-438C-88A7-149E039B55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A1847-513F-427C-911C-0A18E3AD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8FF78-6F21-45F5-B5F5-F4862F9F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725CC-4F4C-4858-B99E-0C329E1B706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B772C-2986-4E09-BAAD-510AC59FE8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670B58-8AC3-421E-BCA3-A0BF84B5DC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6296E-33D8-48D9-8A7A-2AD3A134F5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E71E8-A50A-4A78-9AF2-0786824B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4EA979-D3FA-42AC-B35F-8EA5701A7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FE3C0-4254-4076-84ED-86B4C43170C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D5ADC9-8E35-4083-B7AF-136189616BD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C7ACF4-C0CA-4838-8305-D6E922FC4F2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22B3A3-35F4-416C-8CA1-0D87660529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A28591-36D6-4BD1-8E2C-3211DF65B2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D2A54C-8263-425F-A395-E86ABF2A0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DF195-A2DC-4E01-985E-9AB1E71D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7A8447-3DB9-4CB3-894C-CC74C8EC66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2D3A38-A37C-480E-8E44-3227273318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1AF249-DAE0-4A12-9E9A-DA899C3C01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02F9EA-893A-44E5-8672-76AE61BBDC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1845B9-BB72-47D4-8AE9-90F41ED02F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5876E-8556-4F86-9E10-851B0A162F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B8D63-99F3-4381-B7BF-E0A7CD3D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7D916-65A6-4508-AB4F-87851918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0EBF9-F7B8-40C4-858A-90D2B4FA9F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668107-6FFA-4730-B315-A0500D2BFF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DD66F-A306-4B9E-9272-6814994B26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445A2F-2C59-4AB1-A8BF-DD0CF78681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62FDC-57A4-4236-AF60-279E7877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E4B8FD-D8AA-4FEA-863E-D394F25BE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7AAB45-6CD3-45B1-819D-717DA92AC4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26329-42BE-484B-8AFA-1D4766F4E1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216E6F-F436-470D-A263-A98570B395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88DAF0-3023-4A25-A180-2D069409F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6B0BE-B026-47FF-9FBB-CC33B514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968CCB-DEB2-492C-9011-CC3DC8156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5F5DA-5CBF-4D9B-9F58-92A47AB48B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701E3-E585-45F2-8E81-D7634B318A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7927B-3E06-46BF-909F-19519DBE0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E54476-35BF-434F-9BED-08198012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CBA41B-75E2-4ADA-AEB1-448768D37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FCDA8-3CBF-4BBB-8596-0498EA0BFF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FE68E-CA1D-4260-9395-CF2C0DBC61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F376C-D6FC-44CD-9549-C13F466B24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DF581-944D-4BDF-8D88-07D57005A6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buNone/>
              <a:defRPr sz="36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在这里填，求不弄乱样式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E42E2-7D10-4C6F-A4FC-80E2A2B735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har char="n"/>
              <a:defRPr sz="2800" b="1">
                <a:latin typeface="微软雅黑"/>
                <a:ea typeface="微软雅黑"/>
                <a:cs typeface="微软雅黑"/>
              </a:defRPr>
            </a:lvl1pPr>
            <a:lvl2pPr marL="685800" indent="-228600">
              <a:lnSpc>
                <a:spcPct val="150000"/>
              </a:lnSpc>
              <a:buChar char="Ø"/>
              <a:defRPr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在这里填，求不弄乱样式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1B62F-B290-4ACF-BDCB-B4A15C387C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 sz="2000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4E334DFF-A8DE-B148-81B1-4F37B46AC470}" type="slidenum">
              <a:t>‹#›</a:t>
            </a:fld>
            <a:endParaRPr/>
          </a:p>
        </p:txBody>
      </p:sp>
      <p:sp>
        <p:nvSpPr>
          <p:cNvPr id="7" name="直接连接符 9">
            <a:extLst>
              <a:ext uri="{FF2B5EF4-FFF2-40B4-BE49-F238E27FC236}">
                <a16:creationId xmlns:a16="http://schemas.microsoft.com/office/drawing/2014/main" id="{DAF323BC-1EA6-4253-8BBC-1FB6425A5A2C}"/>
              </a:ext>
            </a:extLst>
          </p:cNvPr>
          <p:cNvSpPr>
            <a:spLocks noGrp="1"/>
          </p:cNvSpPr>
          <p:nvPr/>
        </p:nv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01845" y="434104"/>
            <a:ext cx="989166" cy="989167"/>
          </a:xfrm>
          <a:prstGeom prst="rect">
            <a:avLst/>
          </a:prstGeom>
          <a:ln>
            <a:noFill/>
          </a:ln>
        </p:spPr>
      </p:pic>
      <p:pic>
        <p:nvPicPr>
          <p:cNvPr id="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AC40B95A-AAA2-4161-97B4-19475B13B45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har char="Ø"/>
              <a:defRPr sz="2400" b="0">
                <a:latin typeface="微软雅黑"/>
                <a:ea typeface="微软雅黑"/>
                <a:cs typeface="微软雅黑"/>
              </a:defRPr>
            </a:lvl1pPr>
            <a:lvl2pPr marL="685800" indent="-228600">
              <a:lnSpc>
                <a:spcPct val="150000"/>
              </a:lnSpc>
              <a:buChar char="Ø"/>
              <a:defRPr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在这里填，求不弄乱样式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E8C4EA-2ED2-4D3C-ADC4-E84BEBD68B2C}"/>
              </a:ext>
            </a:extLst>
          </p:cNvPr>
          <p:cNvSpPr>
            <a:spLocks noGrp="1"/>
          </p:cNvSpPr>
          <p:nvPr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1416E-A631-412B-9ACD-8831FE91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9749E-FDA8-4307-8CFE-E22407D83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44C1F-1AD2-458E-BBDA-EDD17358C86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FD6D8-AAFD-443C-A1AE-7105914F853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CBF04-E0DC-4784-A43A-9795552DA2A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5F6DC-54E8-4D03-8A79-93DA8BED80C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>
            <a:extLst>
              <a:ext uri="{FF2B5EF4-FFF2-40B4-BE49-F238E27FC236}">
                <a16:creationId xmlns:a16="http://schemas.microsoft.com/office/drawing/2014/main" id="{7C1304CE-45F6-4524-87DF-97404669FF8A}"/>
              </a:ext>
            </a:extLst>
          </p:cNvPr>
          <p:cNvSpPr>
            <a:spLocks noGrp="1"/>
          </p:cNvSpPr>
          <p:nvPr/>
        </p:nv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sp>
      <p:pic>
        <p:nvPicPr>
          <p:cNvPr id="15" name="图片 9"/>
          <p:cNvPicPr>
            <a:picLocks noChangeAspect="1"/>
          </p:cNvPicPr>
          <p:nvPr/>
        </p:nvPicPr>
        <p:blipFill rotWithShape="1">
          <a:blip r:embed="rId3"/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D8E2360-94D1-47ED-BBDE-1A6A0DF9D382}"/>
              </a:ext>
            </a:extLst>
          </p:cNvPr>
          <p:cNvSpPr>
            <a:spLocks noGrp="1"/>
          </p:cNvSpPr>
          <p:nvPr/>
        </p:nvSpPr>
        <p:spPr>
          <a:xfrm>
            <a:off x="-1" y="1789242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89CCDD6-BDFB-410E-8A32-9FC24273ED8F}"/>
              </a:ext>
            </a:extLst>
          </p:cNvPr>
          <p:cNvSpPr>
            <a:spLocks noGrp="1"/>
          </p:cNvSpPr>
          <p:nvPr/>
        </p:nvSpPr>
        <p:spPr>
          <a:xfrm>
            <a:off x="2137313" y="2459405"/>
            <a:ext cx="8032968" cy="18470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《综合实训项目答辩》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--DormGo Agent 功能升级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25FC71-194D-44BF-AAA4-99C818363219}"/>
              </a:ext>
            </a:extLst>
          </p:cNvPr>
          <p:cNvSpPr>
            <a:spLocks noGrp="1"/>
          </p:cNvSpPr>
          <p:nvPr/>
        </p:nvSpPr>
        <p:spPr>
          <a:xfrm>
            <a:off x="3398782" y="5682967"/>
            <a:ext cx="62965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主题：面向校园社区的任务型 Agent</a:t>
            </a:r>
          </a:p>
          <a:p>
            <a:pPr algn="ctr">
              <a:lnSpc>
                <a:spcPct val="150000"/>
              </a:lnSpc>
              <a:buNone/>
              <a:def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核心：ReAct 推理循环 + 工具调用 + 安全报名确认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2A903A-A295-434B-B910-77D8CC158E48}"/>
              </a:ext>
            </a:extLst>
          </p:cNvPr>
          <p:cNvSpPr>
            <a:spLocks noGrp="1"/>
          </p:cNvSpPr>
          <p:nvPr/>
        </p:nvSpPr>
        <p:spPr>
          <a:xfrm>
            <a:off x="5162550" y="4762500"/>
            <a:ext cx="18669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组号：11</a:t>
            </a:r>
          </a:p>
        </p:txBody>
      </p:sp>
    </p:spTree>
    <p:extLst>
      <p:ext uri="{BB962C8B-B14F-4D97-AF65-F5344CB8AC3E}">
        <p14:creationId xmlns:p14="http://schemas.microsoft.com/office/powerpoint/2010/main" val="137628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0CCE2-B93F-4356-89C4-7EB7A678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 分工介绍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91969C-0683-4E59-912C-F1050164C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D9F6D4-AE4B-4F35-A98F-F92AAB559738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本次综合实训在原有社区系统基础上，重点补充 Agent 功能链路。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9028D1-0FAB-47F1-8937-705425D816E1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D8792D"/>
          </a:solidFill>
          <a:ln w="0">
            <a:solidFill>
              <a:srgbClr val="D8792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刘宇涛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043191-E470-472C-B24F-2263BA2D9429}"/>
              </a:ext>
            </a:extLst>
          </p:cNvPr>
          <p:cNvSpPr>
            <a:spLocks noGrp="1"/>
          </p:cNvSpPr>
          <p:nvPr/>
        </p:nvSpPr>
        <p:spPr>
          <a:xfrm>
            <a:off x="2266950" y="1600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Agent 后端编排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DD7652-6D4E-49C7-BB5F-944DBB34567A}"/>
              </a:ext>
            </a:extLst>
          </p:cNvPr>
          <p:cNvSpPr>
            <a:spLocks noGrp="1"/>
          </p:cNvSpPr>
          <p:nvPr/>
        </p:nvSpPr>
        <p:spPr>
          <a:xfrm>
            <a:off x="2266950" y="19050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ReAct 循环、工具注册、检索过滤与单元测试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26D52A-0504-4660-B482-8EB4EA3DC4EB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张建锦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E03692-F144-4C27-B128-081870263426}"/>
              </a:ext>
            </a:extLst>
          </p:cNvPr>
          <p:cNvSpPr>
            <a:spLocks noGrp="1"/>
          </p:cNvSpPr>
          <p:nvPr/>
        </p:nvSpPr>
        <p:spPr>
          <a:xfrm>
            <a:off x="2266950" y="2343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前端交互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25E38B-3A6D-400E-968A-D7CF5EF73741}"/>
              </a:ext>
            </a:extLst>
          </p:cNvPr>
          <p:cNvSpPr>
            <a:spLocks noGrp="1"/>
          </p:cNvSpPr>
          <p:nvPr/>
        </p:nvSpPr>
        <p:spPr>
          <a:xfrm>
            <a:off x="2266950" y="26479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Agent 聊天页、推理过程展示、刷新后的会话保留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4382CCB-635B-43A3-8E2A-76AD60282097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张萍萍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0754CD-41C2-4ADF-A557-A7EA0575D79D}"/>
              </a:ext>
            </a:extLst>
          </p:cNvPr>
          <p:cNvSpPr>
            <a:spLocks noGrp="1"/>
          </p:cNvSpPr>
          <p:nvPr/>
        </p:nvSpPr>
        <p:spPr>
          <a:xfrm>
            <a:off x="2266950" y="3086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后端业务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0E651D-A6CA-415B-9BB2-1E52DF0C241C}"/>
              </a:ext>
            </a:extLst>
          </p:cNvPr>
          <p:cNvSpPr>
            <a:spLocks noGrp="1"/>
          </p:cNvSpPr>
          <p:nvPr/>
        </p:nvSpPr>
        <p:spPr>
          <a:xfrm>
            <a:off x="2266950" y="33909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Go 内部工具、报名确认、Redis 会话状态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E6DEA7B-694C-4B18-B9E8-34CC2D9D5C98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黄悦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76E646-2677-4361-BFC2-6C9BB206BCED}"/>
              </a:ext>
            </a:extLst>
          </p:cNvPr>
          <p:cNvSpPr>
            <a:spLocks noGrp="1"/>
          </p:cNvSpPr>
          <p:nvPr/>
        </p:nvSpPr>
        <p:spPr>
          <a:xfrm>
            <a:off x="2266950" y="3829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测试与演示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19D41E-5ABF-4578-A005-0B2829C4D955}"/>
              </a:ext>
            </a:extLst>
          </p:cNvPr>
          <p:cNvSpPr>
            <a:spLocks noGrp="1"/>
          </p:cNvSpPr>
          <p:nvPr/>
        </p:nvSpPr>
        <p:spPr>
          <a:xfrm>
            <a:off x="2266950" y="41338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搜索、详情、报名、多轮上下文测试用例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9E994EA-0C2C-4B47-901E-F660B59C1061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卢雪倩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D0A0F1-F026-4CFA-B5F4-1340DDB7BA73}"/>
              </a:ext>
            </a:extLst>
          </p:cNvPr>
          <p:cNvSpPr>
            <a:spLocks noGrp="1"/>
          </p:cNvSpPr>
          <p:nvPr/>
        </p:nvSpPr>
        <p:spPr>
          <a:xfrm>
            <a:off x="2266950" y="4572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文档与答辩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60E7CA-B74F-40FA-9CA4-3417624551CE}"/>
              </a:ext>
            </a:extLst>
          </p:cNvPr>
          <p:cNvSpPr>
            <a:spLocks noGrp="1"/>
          </p:cNvSpPr>
          <p:nvPr/>
        </p:nvSpPr>
        <p:spPr>
          <a:xfrm>
            <a:off x="2266950" y="48768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需求梳理、展示流程、答辩材料整理</a:t>
            </a:r>
          </a:p>
        </p:txBody>
      </p:sp>
    </p:spTree>
    <p:extLst>
      <p:ext uri="{BB962C8B-B14F-4D97-AF65-F5344CB8AC3E}">
        <p14:creationId xmlns:p14="http://schemas.microsoft.com/office/powerpoint/2010/main" val="1925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 项目介绍：原有系统已经覆盖完整社区流程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A73E78-31DD-4201-B64A-7149F8910B4C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旧功能不展开讲，综合实训重点放在新增 Agent。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951C103-7E79-4F5E-8C36-9CA50E3D6F25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00E0A5-F5F3-4C3A-8869-DCA9EC288BDE}"/>
              </a:ext>
            </a:extLst>
          </p:cNvPr>
          <p:cNvSpPr>
            <a:spLocks noGrp="1"/>
          </p:cNvSpPr>
          <p:nvPr/>
        </p:nvSpPr>
        <p:spPr>
          <a:xfrm>
            <a:off x="857250" y="1771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帖子社区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C8229B-2E07-4F7D-9746-DEFB55C349CE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发布、分类、宿舍筛选、图片、评论、点赞、收藏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7C04DB6-C387-4E23-87EB-D617862766A7}"/>
              </a:ext>
            </a:extLst>
          </p:cNvPr>
          <p:cNvSpPr>
            <a:spLocks noGrp="1"/>
          </p:cNvSpPr>
          <p:nvPr/>
        </p:nvSpPr>
        <p:spPr>
          <a:xfrm>
            <a:off x="4324350" y="163830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E4CD3C-D602-47BB-A220-9FB2E12B743D}"/>
              </a:ext>
            </a:extLst>
          </p:cNvPr>
          <p:cNvSpPr>
            <a:spLocks noGrp="1"/>
          </p:cNvSpPr>
          <p:nvPr/>
        </p:nvSpPr>
        <p:spPr>
          <a:xfrm>
            <a:off x="4495800" y="1771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报名协作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B2E52F-1CFB-4456-9408-4E2E53A6FF89}"/>
              </a:ext>
            </a:extLst>
          </p:cNvPr>
          <p:cNvSpPr>
            <a:spLocks noGrp="1"/>
          </p:cNvSpPr>
          <p:nvPr/>
        </p:nvSpPr>
        <p:spPr>
          <a:xfrm>
            <a:off x="4495800" y="21145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限额报名、报名状态、通知提醒、事务写入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CE4E1A2-037F-419B-99F4-C866DEE0D643}"/>
              </a:ext>
            </a:extLst>
          </p:cNvPr>
          <p:cNvSpPr>
            <a:spLocks noGrp="1"/>
          </p:cNvSpPr>
          <p:nvPr/>
        </p:nvSpPr>
        <p:spPr>
          <a:xfrm>
            <a:off x="7962900" y="163830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49F1A4-153A-45D6-9584-D2ADAD306B90}"/>
              </a:ext>
            </a:extLst>
          </p:cNvPr>
          <p:cNvSpPr>
            <a:spLocks noGrp="1"/>
          </p:cNvSpPr>
          <p:nvPr/>
        </p:nvSpPr>
        <p:spPr>
          <a:xfrm>
            <a:off x="8134350" y="1771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消息通知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E08C57-33D4-48B0-BA92-45463375F5AA}"/>
              </a:ext>
            </a:extLst>
          </p:cNvPr>
          <p:cNvSpPr>
            <a:spLocks noGrp="1"/>
          </p:cNvSpPr>
          <p:nvPr/>
        </p:nvSpPr>
        <p:spPr>
          <a:xfrm>
            <a:off x="8134350" y="21145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私信会话、未读数、报名通知、系统消息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2D4F565-0A54-470C-8293-2A2BFE7A7590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9C3C80-9D25-4686-B5DE-73EFD5AC280D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EABDBE-B429-4ECD-A91B-61C6E22AC397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用户管理、内容审核、楼栋管理、敏感词与统计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2065389-ECA6-4B56-B425-3D4CAA223DCF}"/>
              </a:ext>
            </a:extLst>
          </p:cNvPr>
          <p:cNvSpPr>
            <a:spLocks noGrp="1"/>
          </p:cNvSpPr>
          <p:nvPr/>
        </p:nvSpPr>
        <p:spPr>
          <a:xfrm>
            <a:off x="4324350" y="325755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1D3167-C3B9-4382-BEF8-6B5E1C2AC38C}"/>
              </a:ext>
            </a:extLst>
          </p:cNvPr>
          <p:cNvSpPr>
            <a:spLocks noGrp="1"/>
          </p:cNvSpPr>
          <p:nvPr/>
        </p:nvSpPr>
        <p:spPr>
          <a:xfrm>
            <a:off x="4495800" y="33909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内容安全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2768E-D231-4F4C-BD6F-875E0B082DD4}"/>
              </a:ext>
            </a:extLst>
          </p:cNvPr>
          <p:cNvSpPr>
            <a:spLocks noGrp="1"/>
          </p:cNvSpPr>
          <p:nvPr/>
        </p:nvSpPr>
        <p:spPr>
          <a:xfrm>
            <a:off x="4495800" y="373380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敏感词过滤结合 AI 审核，降低违规内容风险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C2D1A60-3A99-4E2B-933A-562E046F6A70}"/>
              </a:ext>
            </a:extLst>
          </p:cNvPr>
          <p:cNvSpPr>
            <a:spLocks noGrp="1"/>
          </p:cNvSpPr>
          <p:nvPr/>
        </p:nvSpPr>
        <p:spPr>
          <a:xfrm>
            <a:off x="7962900" y="325755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3AEE43-7EFA-46FE-AD80-295636EE615A}"/>
              </a:ext>
            </a:extLst>
          </p:cNvPr>
          <p:cNvSpPr>
            <a:spLocks noGrp="1"/>
          </p:cNvSpPr>
          <p:nvPr/>
        </p:nvSpPr>
        <p:spPr>
          <a:xfrm>
            <a:off x="8134350" y="33909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47A603-0AC6-41A8-83A6-06B892260B0F}"/>
              </a:ext>
            </a:extLst>
          </p:cNvPr>
          <p:cNvSpPr>
            <a:spLocks noGrp="1"/>
          </p:cNvSpPr>
          <p:nvPr/>
        </p:nvSpPr>
        <p:spPr>
          <a:xfrm>
            <a:off x="8134350" y="373380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Vue 3 + Go Gin + MySQL + Redis + Python Agent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1B45A4-4616-4A83-A9F3-A62DE63B7DC5}"/>
              </a:ext>
            </a:extLst>
          </p:cNvPr>
          <p:cNvSpPr>
            <a:spLocks noGrp="1"/>
          </p:cNvSpPr>
          <p:nvPr/>
        </p:nvSpPr>
        <p:spPr>
          <a:xfrm>
            <a:off x="2095500" y="53340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一句话概括：旧系统已完成社区闭环，本次重点升级自然语言 Agent。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3 为什么要加入 Agent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9074F-2396-45F1-A0C5-DFE791F0A740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目标不是做聊天机器人，而是让用户用自然语言完成真实业务任务。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2E39D0C-C13D-4F8E-BDA9-1D008A047CA3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383">
            <a:solidFill>
              <a:srgbClr val="D0D0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25041B-5D66-4221-97A3-2DBFDD56085A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原来的操作方式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3A3D3-72C9-425F-AE22-5370A1D24E1A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28003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用户需要自己筛选分类、搜索关键词、打开详情、判断是否可报名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96C5F932-79B7-4E7D-AE62-7580767F40FE}"/>
              </a:ext>
            </a:extLst>
          </p:cNvPr>
          <p:cNvSpPr>
            <a:spLocks noGrp="1"/>
          </p:cNvSpPr>
          <p:nvPr/>
        </p:nvSpPr>
        <p:spPr>
          <a:xfrm>
            <a:off x="4171950" y="2266950"/>
            <a:ext cx="7048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8F1CF05-F049-42C7-8663-00AFECC43B8F}"/>
              </a:ext>
            </a:extLst>
          </p:cNvPr>
          <p:cNvSpPr>
            <a:spLocks noGrp="1"/>
          </p:cNvSpPr>
          <p:nvPr/>
        </p:nvSpPr>
        <p:spPr>
          <a:xfrm>
            <a:off x="5219700" y="1676400"/>
            <a:ext cx="3429000" cy="1524000"/>
          </a:xfrm>
          <a:prstGeom prst="roundRect">
            <a:avLst>
              <a:gd name="adj" fmla="val 6250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69ABF6-73E9-4F9F-A851-025C9B205441}"/>
              </a:ext>
            </a:extLst>
          </p:cNvPr>
          <p:cNvSpPr>
            <a:spLocks noGrp="1"/>
          </p:cNvSpPr>
          <p:nvPr/>
        </p:nvSpPr>
        <p:spPr>
          <a:xfrm>
            <a:off x="5391150" y="18097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加入</a:t>
            </a:r>
            <a:r>
              <a:rPr sz="1500" b="1" dirty="0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500" b="1" dirty="0" err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后</a:t>
            </a:r>
            <a:endParaRPr sz="1500" b="1" dirty="0">
              <a:solidFill>
                <a:srgbClr val="0B512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D96240-A4D3-4713-BD9F-70D651C6332E}"/>
              </a:ext>
            </a:extLst>
          </p:cNvPr>
          <p:cNvSpPr>
            <a:spLocks noGrp="1"/>
          </p:cNvSpPr>
          <p:nvPr/>
        </p:nvSpPr>
        <p:spPr>
          <a:xfrm>
            <a:off x="5391150" y="2152650"/>
            <a:ext cx="3086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用户直接说“</a:t>
            </a: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有没有一起出去玩的帖子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”“</a:t>
            </a: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帮我报名第一个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”，</a:t>
            </a: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系统自动规划工具调用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7424AB30-0E1D-4E94-864C-2DB1F439FEEF}"/>
              </a:ext>
            </a:extLst>
          </p:cNvPr>
          <p:cNvSpPr>
            <a:spLocks noGrp="1"/>
          </p:cNvSpPr>
          <p:nvPr/>
        </p:nvSpPr>
        <p:spPr>
          <a:xfrm>
            <a:off x="8934450" y="2266950"/>
            <a:ext cx="7048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9CBF496-0007-49DE-B6B2-0CB4E2E043EC}"/>
              </a:ext>
            </a:extLst>
          </p:cNvPr>
          <p:cNvSpPr>
            <a:spLocks noGrp="1"/>
          </p:cNvSpPr>
          <p:nvPr/>
        </p:nvSpPr>
        <p:spPr>
          <a:xfrm>
            <a:off x="9810750" y="1676400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E56DA0-0E90-41AD-837E-0741D194DD55}"/>
              </a:ext>
            </a:extLst>
          </p:cNvPr>
          <p:cNvSpPr>
            <a:spLocks noGrp="1"/>
          </p:cNvSpPr>
          <p:nvPr/>
        </p:nvSpPr>
        <p:spPr>
          <a:xfrm>
            <a:off x="9982200" y="18097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最终体验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871F9D-3648-43EB-9B5B-C922A4398B76}"/>
              </a:ext>
            </a:extLst>
          </p:cNvPr>
          <p:cNvSpPr>
            <a:spLocks noGrp="1"/>
          </p:cNvSpPr>
          <p:nvPr/>
        </p:nvSpPr>
        <p:spPr>
          <a:xfrm>
            <a:off x="9982200" y="2152650"/>
            <a:ext cx="1371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搜索、详情、报名确认都在同一条对话链路中完成。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DE2E01-571F-4532-9997-B6C5728F0CF2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这次综合实训的核心变化</a:t>
            </a:r>
            <a:endParaRPr sz="1800" b="1" dirty="0">
              <a:solidFill>
                <a:srgbClr val="0B512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1BFDCB-7291-4C4C-99DE-D80FEFC214D1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把“平台功能”封装成可被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安全调用的工具，再让模型在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ReAct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循环中按任务一步步选择工具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4 Agent 采用受控工具调用架构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E9B1F9-778E-4469-9455-EAB8012D13AD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Python 负责推理和检索，Go 继续负责权限、事务和数据写入。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19F5AF8-1D14-40EF-B3B6-F4D727476A87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Vue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Agent 页面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E029FD2D-66BD-41EF-82EE-8C91945D3FB0}"/>
              </a:ext>
            </a:extLst>
          </p:cNvPr>
          <p:cNvSpPr>
            <a:spLocks noGrp="1"/>
          </p:cNvSpPr>
          <p:nvPr/>
        </p:nvSpPr>
        <p:spPr>
          <a:xfrm>
            <a:off x="23241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1103616-C73F-4BFE-BB66-11A802B8CE6D}"/>
              </a:ext>
            </a:extLst>
          </p:cNvPr>
          <p:cNvSpPr>
            <a:spLocks noGrp="1"/>
          </p:cNvSpPr>
          <p:nvPr/>
        </p:nvSpPr>
        <p:spPr>
          <a:xfrm>
            <a:off x="25908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2F7FA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Agent 网关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25D4076C-5144-4A94-A8D1-A7EB622154D5}"/>
              </a:ext>
            </a:extLst>
          </p:cNvPr>
          <p:cNvSpPr>
            <a:spLocks noGrp="1"/>
          </p:cNvSpPr>
          <p:nvPr/>
        </p:nvSpPr>
        <p:spPr>
          <a:xfrm>
            <a:off x="43053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729B5BE-D89F-403C-85DB-1A8C988EA38C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Python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ReAct Loop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7416C6CD-5C4A-4185-96D8-F11A0B41E724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28CECC1-21AE-4FDD-AB36-326EDFAAC8B6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 内部工具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业务接口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2BC8A7A-C7A7-4BDC-9AC0-367DC8CD7224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B59BC85-5AC6-4B6D-8E71-E66D91C139E4}"/>
              </a:ext>
            </a:extLst>
          </p:cNvPr>
          <p:cNvSpPr>
            <a:spLocks noGrp="1"/>
          </p:cNvSpPr>
          <p:nvPr/>
        </p:nvSpPr>
        <p:spPr>
          <a:xfrm>
            <a:off x="9620250" y="194310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F5F0FA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MySQL / Redis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FAISS 索引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BD958A9-07F6-47F1-B993-47A88E8A059D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4762500" cy="1238250"/>
          </a:xfrm>
          <a:prstGeom prst="roundRect">
            <a:avLst>
              <a:gd name="adj" fmla="val 7692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43C4B1-EAA2-40CC-82C1-1E58C8231B5B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关键边界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3C6762-C15A-433C-B216-34BD53C93E9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4419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Python Agent 不直接写数据库；报名、权限、事务、Redis 状态都由 Go 后端执行。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DF8AC99-A713-404D-9529-ABD9489D1560}"/>
              </a:ext>
            </a:extLst>
          </p:cNvPr>
          <p:cNvSpPr>
            <a:spLocks noGrp="1"/>
          </p:cNvSpPr>
          <p:nvPr/>
        </p:nvSpPr>
        <p:spPr>
          <a:xfrm>
            <a:off x="6572250" y="3429000"/>
            <a:ext cx="4762500" cy="1238250"/>
          </a:xfrm>
          <a:prstGeom prst="roundRect">
            <a:avLst>
              <a:gd name="adj" fmla="val 7692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207407-F272-4402-9B11-DF907B82C4E0}"/>
              </a:ext>
            </a:extLst>
          </p:cNvPr>
          <p:cNvSpPr>
            <a:spLocks noGrp="1"/>
          </p:cNvSpPr>
          <p:nvPr/>
        </p:nvSpPr>
        <p:spPr>
          <a:xfrm>
            <a:off x="6743700" y="35623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为什么这样设计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0E268C-036A-4A63-88A1-C2AE96C84327}"/>
              </a:ext>
            </a:extLst>
          </p:cNvPr>
          <p:cNvSpPr>
            <a:spLocks noGrp="1"/>
          </p:cNvSpPr>
          <p:nvPr/>
        </p:nvSpPr>
        <p:spPr>
          <a:xfrm>
            <a:off x="6743700" y="3905250"/>
            <a:ext cx="4419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模型只决定“下一步调用什么工具”，不会绕过业务规则，也不会直接修改核心数据。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5 ReAct 循环让每一步都有依据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383229-2527-4D38-88B3-A4A926B95B91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一次对话由“思考、行动、观察、收口”组成，并把过程展示给用户。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1DD91BD-65E7-4CA4-A129-F7801106000E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FA28C8-0B18-4EEA-8CA4-12E775274550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Thought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964F9F-E9BF-421B-8840-6AC912CA325C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判断用户意图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是否搜索、详情或报名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CADB9CC7-77B1-48F3-8B59-7018D06960F0}"/>
              </a:ext>
            </a:extLst>
          </p:cNvPr>
          <p:cNvSpPr>
            <a:spLocks noGrp="1"/>
          </p:cNvSpPr>
          <p:nvPr/>
        </p:nvSpPr>
        <p:spPr>
          <a:xfrm>
            <a:off x="3048000" y="2400300"/>
            <a:ext cx="4191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603A078-BE2F-4A6C-9107-2D51FCC8C1F0}"/>
              </a:ext>
            </a:extLst>
          </p:cNvPr>
          <p:cNvSpPr>
            <a:spLocks noGrp="1"/>
          </p:cNvSpPr>
          <p:nvPr/>
        </p:nvSpPr>
        <p:spPr>
          <a:xfrm>
            <a:off x="3590925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469318-E2AA-4C61-AAF1-69F6E4983432}"/>
              </a:ext>
            </a:extLst>
          </p:cNvPr>
          <p:cNvSpPr>
            <a:spLocks noGrp="1"/>
          </p:cNvSpPr>
          <p:nvPr/>
        </p:nvSpPr>
        <p:spPr>
          <a:xfrm>
            <a:off x="3762375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2A9802-E34A-443C-A27A-095A1BB06DFB}"/>
              </a:ext>
            </a:extLst>
          </p:cNvPr>
          <p:cNvSpPr>
            <a:spLocks noGrp="1"/>
          </p:cNvSpPr>
          <p:nvPr/>
        </p:nvSpPr>
        <p:spPr>
          <a:xfrm>
            <a:off x="3762375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调用一个工具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search / detail / prepare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181862D2-D252-448E-8543-1394A4964129}"/>
              </a:ext>
            </a:extLst>
          </p:cNvPr>
          <p:cNvSpPr>
            <a:spLocks noGrp="1"/>
          </p:cNvSpPr>
          <p:nvPr/>
        </p:nvSpPr>
        <p:spPr>
          <a:xfrm>
            <a:off x="5857875" y="2400300"/>
            <a:ext cx="4191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228477B-4D0B-44C2-B19C-5D25ECEA47DC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F1755D-FC33-4FCA-96D6-BFB5A63CCD1D}"/>
              </a:ext>
            </a:extLst>
          </p:cNvPr>
          <p:cNvSpPr>
            <a:spLocks noGrp="1"/>
          </p:cNvSpPr>
          <p:nvPr/>
        </p:nvSpPr>
        <p:spPr>
          <a:xfrm>
            <a:off x="6572250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EC31A7-EDE8-4EFF-A8B5-07C42CFD97C1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读取工具结果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候选、详情或待确认动作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D64F7C31-A8FB-4084-8EFE-1B06FC05598A}"/>
              </a:ext>
            </a:extLst>
          </p:cNvPr>
          <p:cNvSpPr>
            <a:spLocks noGrp="1"/>
          </p:cNvSpPr>
          <p:nvPr/>
        </p:nvSpPr>
        <p:spPr>
          <a:xfrm>
            <a:off x="8667750" y="2400300"/>
            <a:ext cx="4191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03C0100-ACDC-4AEC-A47B-B562B72315EF}"/>
              </a:ext>
            </a:extLst>
          </p:cNvPr>
          <p:cNvSpPr>
            <a:spLocks noGrp="1"/>
          </p:cNvSpPr>
          <p:nvPr/>
        </p:nvSpPr>
        <p:spPr>
          <a:xfrm>
            <a:off x="9210675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4FEF69-D7D5-40DF-8920-2534C913A1AB}"/>
              </a:ext>
            </a:extLst>
          </p:cNvPr>
          <p:cNvSpPr>
            <a:spLocks noGrp="1"/>
          </p:cNvSpPr>
          <p:nvPr/>
        </p:nvSpPr>
        <p:spPr>
          <a:xfrm>
            <a:off x="9382125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Finish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750D2E-A4A3-40FF-B30A-EC0507118522}"/>
              </a:ext>
            </a:extLst>
          </p:cNvPr>
          <p:cNvSpPr>
            <a:spLocks noGrp="1"/>
          </p:cNvSpPr>
          <p:nvPr/>
        </p:nvSpPr>
        <p:spPr>
          <a:xfrm>
            <a:off x="9382125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生成最终回复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必要时等待用户确认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46B2EE-B4F6-4266-8830-9E28C2CA433B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工程化补充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240B45-DB31-470B-9E85-4C5F9E3C9BE2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搜索成功或空结果时快速收口，避免模型重复搜索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67D3A6-BFDE-4E8A-A076-E4E2330FEDB6}"/>
              </a:ext>
            </a:extLst>
          </p:cNvPr>
          <p:cNvSpPr>
            <a:spLocks noGrp="1"/>
          </p:cNvSpPr>
          <p:nvPr/>
        </p:nvSpPr>
        <p:spPr>
          <a:xfrm>
            <a:off x="1047750" y="4800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详情读取成功后直接生成详情回复，避免反复调用工具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6D8B1A-655E-4CCA-BCF1-B8C99832DFAA}"/>
              </a:ext>
            </a:extLst>
          </p:cNvPr>
          <p:cNvSpPr>
            <a:spLocks noGrp="1"/>
          </p:cNvSpPr>
          <p:nvPr/>
        </p:nvSpPr>
        <p:spPr>
          <a:xfrm>
            <a:off x="1047750" y="52006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报名准备成功后只创建待确认动作，不直接报名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6 工具和状态把多轮任务接起来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3A61B5-17BC-41E2-A51A-134B837A0E6C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Agent 能理解“第二个”“报名这个”，依赖的是服务端状态，而不是前端临时记忆。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ADF9535-53B0-45FE-8C5F-E7B83788BF2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429000" cy="2857500"/>
          </a:xfrm>
          <a:prstGeom prst="roundRect">
            <a:avLst>
              <a:gd name="adj" fmla="val 3333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A7D1A4-E689-4C4C-B9E0-D547635A9AFB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工具集合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CF703-FEE8-4565-BF09-96B3E5D77BDB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30861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search_posts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search_signup_posts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get_post_detail_from_candidate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prepare_signup_from_candidate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confirm_signup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D993675-BFFD-4B45-9C54-1E318F3883DB}"/>
              </a:ext>
            </a:extLst>
          </p:cNvPr>
          <p:cNvSpPr>
            <a:spLocks noGrp="1"/>
          </p:cNvSpPr>
          <p:nvPr/>
        </p:nvSpPr>
        <p:spPr>
          <a:xfrm>
            <a:off x="4495800" y="1619250"/>
            <a:ext cx="3429000" cy="2857500"/>
          </a:xfrm>
          <a:prstGeom prst="roundRect">
            <a:avLst>
              <a:gd name="adj" fmla="val 3333"/>
            </a:avLst>
          </a:prstGeom>
          <a:solidFill>
            <a:srgbClr val="F1F7FB"/>
          </a:solidFill>
          <a:ln w="12383">
            <a:solidFill>
              <a:srgbClr val="C9DD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7FA11B-8105-4BE3-98D9-19C280064303}"/>
              </a:ext>
            </a:extLst>
          </p:cNvPr>
          <p:cNvSpPr>
            <a:spLocks noGrp="1"/>
          </p:cNvSpPr>
          <p:nvPr/>
        </p:nvSpPr>
        <p:spPr>
          <a:xfrm>
            <a:off x="4667250" y="17526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rPr>
              <a:t>会话状态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028715-F808-4086-BB94-55E4BC2AAC7E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30861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last_candidates：上次搜索候选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selected_post：当前详情帖子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pending_action：待确认报名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history：最近对话上下文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FFFD67B-06C1-4BDE-A4AF-69A1EAB03FDB}"/>
              </a:ext>
            </a:extLst>
          </p:cNvPr>
          <p:cNvSpPr>
            <a:spLocks noGrp="1"/>
          </p:cNvSpPr>
          <p:nvPr/>
        </p:nvSpPr>
        <p:spPr>
          <a:xfrm>
            <a:off x="8229600" y="1619250"/>
            <a:ext cx="3143250" cy="2857500"/>
          </a:xfrm>
          <a:prstGeom prst="roundRect">
            <a:avLst>
              <a:gd name="adj" fmla="val 3333"/>
            </a:avLst>
          </a:prstGeom>
          <a:solidFill>
            <a:srgbClr val="FFF8EF"/>
          </a:solidFill>
          <a:ln w="12383">
            <a:solidFill>
              <a:srgbClr val="E8D0B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EA5897-45DA-41ED-A3C6-7120011685DF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业务保护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7126E3-21A9-474B-8C05-AF4181CD09F7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28003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 后端校验用户身份、帖子状态、报名人数和确认动作；Redis 中待确认动作 5 分钟过期。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7 语义检索处理“说法不同但意思相近”的请求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t>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9397D2-0300-4354-A2C2-1D444EE2DEFB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搜索不只看关键词，而是先召回语义相近帖子，再做阈值和精确词过滤。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D1F6FCF-B033-421C-89B2-E9F5463D12FF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用户自然语言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一起出去玩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7770C844-FE68-41B4-8C80-DD152660A267}"/>
              </a:ext>
            </a:extLst>
          </p:cNvPr>
          <p:cNvSpPr>
            <a:spLocks noGrp="1"/>
          </p:cNvSpPr>
          <p:nvPr/>
        </p:nvSpPr>
        <p:spPr>
          <a:xfrm>
            <a:off x="2686050" y="1971675"/>
            <a:ext cx="4953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7B38FE1-D8B3-4EE8-A69E-05EC11EC962E}"/>
              </a:ext>
            </a:extLst>
          </p:cNvPr>
          <p:cNvSpPr>
            <a:spLocks noGrp="1"/>
          </p:cNvSpPr>
          <p:nvPr/>
        </p:nvSpPr>
        <p:spPr>
          <a:xfrm>
            <a:off x="3371850" y="1762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1F7FB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BGE 向量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FAISS 召回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A7474410-E378-4B8C-9708-C4AB89ADDB38}"/>
              </a:ext>
            </a:extLst>
          </p:cNvPr>
          <p:cNvSpPr>
            <a:spLocks noGrp="1"/>
          </p:cNvSpPr>
          <p:nvPr/>
        </p:nvSpPr>
        <p:spPr>
          <a:xfrm>
            <a:off x="5276850" y="1971675"/>
            <a:ext cx="4953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61C6F36-78C0-421F-B190-D34598EFD6E1}"/>
              </a:ext>
            </a:extLst>
          </p:cNvPr>
          <p:cNvSpPr>
            <a:spLocks noGrp="1"/>
          </p:cNvSpPr>
          <p:nvPr/>
        </p:nvSpPr>
        <p:spPr>
          <a:xfrm>
            <a:off x="5962650" y="1762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分数过滤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0.55 / 0.52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596B61B1-BED2-4DBC-9C7B-EEECF49B6076}"/>
              </a:ext>
            </a:extLst>
          </p:cNvPr>
          <p:cNvSpPr>
            <a:spLocks noGrp="1"/>
          </p:cNvSpPr>
          <p:nvPr/>
        </p:nvSpPr>
        <p:spPr>
          <a:xfrm>
            <a:off x="7867650" y="1971675"/>
            <a:ext cx="4953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128F7E6-91B3-4021-87AC-61A6E9985E4A}"/>
              </a:ext>
            </a:extLst>
          </p:cNvPr>
          <p:cNvSpPr>
            <a:spLocks noGrp="1"/>
          </p:cNvSpPr>
          <p:nvPr/>
        </p:nvSpPr>
        <p:spPr>
          <a:xfrm>
            <a:off x="8553450" y="1762125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5F0FA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候选结果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爬山 / 志愿活动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9413AB-5F16-4B69-93B4-3D33B9C3AC51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0D4790-2F27-4AF6-9DDF-1786FF50C2FD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为什么要两级阈值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C83E25-44D7-4112-89C6-BE6F02E673F2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4419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严格阈值避免明显噪声；当严格结果为空时，用 relaxed 窗口保留“出去玩”这类泛化语义。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4A6C160-7F91-484A-875F-4AB90D2CAD76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FF4F3"/>
          </a:solidFill>
          <a:ln w="12383">
            <a:solidFill>
              <a:srgbClr val="E7C2B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CE1050-69EE-47D1-AAFA-43573EC6D690}"/>
              </a:ext>
            </a:extLst>
          </p:cNvPr>
          <p:cNvSpPr>
            <a:spLocks noGrp="1"/>
          </p:cNvSpPr>
          <p:nvPr/>
        </p:nvSpPr>
        <p:spPr>
          <a:xfrm>
            <a:off x="6686550" y="34480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941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9413B"/>
                </a:solidFill>
                <a:latin typeface="微软雅黑"/>
                <a:ea typeface="微软雅黑"/>
                <a:cs typeface="微软雅黑"/>
              </a:rPr>
              <a:t>为什么还要精确词过滤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B776A-7D18-467A-A2C3-27B6D4117B0D}"/>
              </a:ext>
            </a:extLst>
          </p:cNvPr>
          <p:cNvSpPr>
            <a:spLocks noGrp="1"/>
          </p:cNvSpPr>
          <p:nvPr/>
        </p:nvSpPr>
        <p:spPr>
          <a:xfrm>
            <a:off x="6686550" y="3790950"/>
            <a:ext cx="4419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“今晚”“一起”这种弱词不能单独保留低分结果，避免“吃饭”搜出跑步或快递。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8 报名功能必须先确认再执行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3351F9-C4D1-46E8-A822-E9153FBC0074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带副作用的动作被拆成 prepare 和 confirm 两步，避免模型直接替用户报名。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AC2405D-8FE4-4D6B-A3C5-941663B42FDA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搜索候选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966A8E81-96BD-4A75-BDC7-9CD0D54FB082}"/>
              </a:ext>
            </a:extLst>
          </p:cNvPr>
          <p:cNvSpPr>
            <a:spLocks noGrp="1"/>
          </p:cNvSpPr>
          <p:nvPr/>
        </p:nvSpPr>
        <p:spPr>
          <a:xfrm>
            <a:off x="240982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64D8849-E05C-4338-B9AE-1D2F0E46AA31}"/>
              </a:ext>
            </a:extLst>
          </p:cNvPr>
          <p:cNvSpPr>
            <a:spLocks noGrp="1"/>
          </p:cNvSpPr>
          <p:nvPr/>
        </p:nvSpPr>
        <p:spPr>
          <a:xfrm>
            <a:off x="290512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准备报名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B7A38E2B-E104-4811-A85B-7FD663C8CF8B}"/>
              </a:ext>
            </a:extLst>
          </p:cNvPr>
          <p:cNvSpPr>
            <a:spLocks noGrp="1"/>
          </p:cNvSpPr>
          <p:nvPr/>
        </p:nvSpPr>
        <p:spPr>
          <a:xfrm>
            <a:off x="460057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9D0562A-2C6A-4B1D-B219-6BEE0A2DA11B}"/>
              </a:ext>
            </a:extLst>
          </p:cNvPr>
          <p:cNvSpPr>
            <a:spLocks noGrp="1"/>
          </p:cNvSpPr>
          <p:nvPr/>
        </p:nvSpPr>
        <p:spPr>
          <a:xfrm>
            <a:off x="509587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生成待确认动作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277543C2-0346-464F-9E6D-927E47E25B72}"/>
              </a:ext>
            </a:extLst>
          </p:cNvPr>
          <p:cNvSpPr>
            <a:spLocks noGrp="1"/>
          </p:cNvSpPr>
          <p:nvPr/>
        </p:nvSpPr>
        <p:spPr>
          <a:xfrm>
            <a:off x="679132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7BB1B50-02CF-4776-9B4F-43B8FBA7C2C9}"/>
              </a:ext>
            </a:extLst>
          </p:cNvPr>
          <p:cNvSpPr>
            <a:spLocks noGrp="1"/>
          </p:cNvSpPr>
          <p:nvPr/>
        </p:nvSpPr>
        <p:spPr>
          <a:xfrm>
            <a:off x="728662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用户确认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714EFF26-CE6F-4350-86CB-04561F363F4D}"/>
              </a:ext>
            </a:extLst>
          </p:cNvPr>
          <p:cNvSpPr>
            <a:spLocks noGrp="1"/>
          </p:cNvSpPr>
          <p:nvPr/>
        </p:nvSpPr>
        <p:spPr>
          <a:xfrm>
            <a:off x="898207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2902222-324E-47A3-B082-D88CE4DB48E1}"/>
              </a:ext>
            </a:extLst>
          </p:cNvPr>
          <p:cNvSpPr>
            <a:spLocks noGrp="1"/>
          </p:cNvSpPr>
          <p:nvPr/>
        </p:nvSpPr>
        <p:spPr>
          <a:xfrm>
            <a:off x="947737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 执行报名事务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07D600-FA62-4558-BA18-AA6BB436E1E1}"/>
              </a:ext>
            </a:extLst>
          </p:cNvPr>
          <p:cNvSpPr>
            <a:spLocks noGrp="1"/>
          </p:cNvSpPr>
          <p:nvPr/>
        </p:nvSpPr>
        <p:spPr>
          <a:xfrm>
            <a:off x="857250" y="36385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这条链路解决的问题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84778B-1044-4D9D-8B6A-F6EBA22D646F}"/>
              </a:ext>
            </a:extLst>
          </p:cNvPr>
          <p:cNvSpPr>
            <a:spLocks noGrp="1"/>
          </p:cNvSpPr>
          <p:nvPr/>
        </p:nvSpPr>
        <p:spPr>
          <a:xfrm>
            <a:off x="1047750" y="4152900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用户说“帮我报名第一个”时，Agent 只创建 pending_action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用户回复“确认报名”后，Go 后端再检查帖子、人数和身份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动作存 Redis 并设置过期时间，避免旧确认误操作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9 演示流程与项目总结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10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A8D14E-2B6E-4D1C-82C3-F0AE0908A2DD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综合实训的重点成果是把 DormGo 做成可对话、可追踪、可控执行的任务型系统。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EE9325-7854-4C14-9AE5-4BEE0DE82830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DFF879-154C-4D2E-92A4-2DF4B9B35F7E}"/>
              </a:ext>
            </a:extLst>
          </p:cNvPr>
          <p:cNvSpPr>
            <a:spLocks noGrp="1"/>
          </p:cNvSpPr>
          <p:nvPr/>
        </p:nvSpPr>
        <p:spPr>
          <a:xfrm>
            <a:off x="933450" y="17335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演示 1：自然语言找帖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123EA7-B154-4C7C-82F7-C833063E216B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“有一起出去玩的帖子吗？”</a:t>
            </a:r>
          </a:p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返回爬山、志愿活动等语义相关结果。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90D5332-4338-4BC4-B9CC-60858E204EF6}"/>
              </a:ext>
            </a:extLst>
          </p:cNvPr>
          <p:cNvSpPr>
            <a:spLocks noGrp="1"/>
          </p:cNvSpPr>
          <p:nvPr/>
        </p:nvSpPr>
        <p:spPr>
          <a:xfrm>
            <a:off x="4476750" y="160020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1F7FB"/>
          </a:solidFill>
          <a:ln w="12383">
            <a:solidFill>
              <a:srgbClr val="C9DD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14E8D7-04AE-4CDB-9A50-41064E420128}"/>
              </a:ext>
            </a:extLst>
          </p:cNvPr>
          <p:cNvSpPr>
            <a:spLocks noGrp="1"/>
          </p:cNvSpPr>
          <p:nvPr/>
        </p:nvSpPr>
        <p:spPr>
          <a:xfrm>
            <a:off x="4648200" y="17335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rPr>
              <a:t>演示 2：追问详情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321D5A-6B67-4DE9-BB01-21A60B367C35}"/>
              </a:ext>
            </a:extLst>
          </p:cNvPr>
          <p:cNvSpPr>
            <a:spLocks noGrp="1"/>
          </p:cNvSpPr>
          <p:nvPr/>
        </p:nvSpPr>
        <p:spPr>
          <a:xfrm>
            <a:off x="4648200" y="2076450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“详细介绍第二个”</a:t>
            </a:r>
          </a:p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从 last_candidates 读取候选详情，不重新搜索。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58D535C-3BB0-4C38-8A61-73744FEC72CC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2383">
            <a:solidFill>
              <a:srgbClr val="E8D0B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E6FB87-211E-4AF7-8845-15F6B147AB7E}"/>
              </a:ext>
            </a:extLst>
          </p:cNvPr>
          <p:cNvSpPr>
            <a:spLocks noGrp="1"/>
          </p:cNvSpPr>
          <p:nvPr/>
        </p:nvSpPr>
        <p:spPr>
          <a:xfrm>
            <a:off x="8362950" y="17335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演示 3：确认报名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6B688A-23FD-4E80-9262-59EA33F8850D}"/>
              </a:ext>
            </a:extLst>
          </p:cNvPr>
          <p:cNvSpPr>
            <a:spLocks noGrp="1"/>
          </p:cNvSpPr>
          <p:nvPr/>
        </p:nvSpPr>
        <p:spPr>
          <a:xfrm>
            <a:off x="8362950" y="2076450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“帮我报名这个”</a:t>
            </a:r>
          </a:p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先生成待确认动作，用户确认后才真正写入。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2375B8-CFBC-4035-944F-80793BE538F5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最终收获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0ABCB5-114B-4046-A76C-D14B2925E576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DormGo 不再只是功能堆叠，而是把已有社区能力封装成 Agent 可调用的工具，并通过 ReAct 循环、状态保存和确认机制完成真实业务任务。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Macintosh PowerPoint</Application>
  <DocSecurity>0</DocSecurity>
  <PresentationFormat>宽屏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微软雅黑</vt:lpstr>
      <vt:lpstr>Office 主题​​</vt:lpstr>
      <vt:lpstr>PowerPoint 演示文稿</vt:lpstr>
      <vt:lpstr>1 分工介绍</vt:lpstr>
      <vt:lpstr>2 项目介绍：原有系统已经覆盖完整社区流程</vt:lpstr>
      <vt:lpstr>3 为什么要加入 Agent</vt:lpstr>
      <vt:lpstr>4 Agent 采用受控工具调用架构</vt:lpstr>
      <vt:lpstr>5 ReAct 循环让每一步都有依据</vt:lpstr>
      <vt:lpstr>6 工具和状态把多轮任务接起来</vt:lpstr>
      <vt:lpstr>7 语义检索处理“说法不同但意思相近”的请求</vt:lpstr>
      <vt:lpstr>8 报名功能必须先确认再执行</vt:lpstr>
      <vt:lpstr>9 演示流程与项目总结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Azusa .</cp:lastModifiedBy>
  <cp:revision>1</cp:revision>
  <dcterms:created xsi:type="dcterms:W3CDTF">2026-07-04T10:37:31Z</dcterms:created>
  <dcterms:modified xsi:type="dcterms:W3CDTF">2026-07-04T14:32:34Z</dcterms:modified>
</cp:coreProperties>
</file>